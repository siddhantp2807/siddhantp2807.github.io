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4" r:id="rId18"/>
    <p:sldId id="275" r:id="rId19"/>
    <p:sldId id="277" r:id="rId20"/>
    <p:sldId id="278" r:id="rId21"/>
    <p:sldId id="279" r:id="rId22"/>
    <p:sldId id="283" r:id="rId23"/>
    <p:sldId id="284" r:id="rId24"/>
    <p:sldId id="285" r:id="rId2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6C723EE-7E41-4969-A946-6D5515E56991}">
  <a:tblStyle styleId="{B6C723EE-7E41-4969-A946-6D5515E5699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8191DC9-6475-4AB9-94D5-C1EDEA67A8CF}"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66"/>
  </p:normalViewPr>
  <p:slideViewPr>
    <p:cSldViewPr snapToGrid="0">
      <p:cViewPr varScale="1">
        <p:scale>
          <a:sx n="136" d="100"/>
          <a:sy n="136" d="100"/>
        </p:scale>
        <p:origin x="960" y="19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ab6c8d5f5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ab6c8d5f5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ab6c8d5f58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ab6c8d5f58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ab6c8d5f58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ab6c8d5f5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ab6c8d5f58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ab6c8d5f58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abce37a6d0_1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abce37a6d0_1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abce37a6d0_1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abce37a6d0_1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ab6c8d5f58_0_1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ab6c8d5f58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ab6c8d5f58_0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ab6c8d5f58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ab6c8d5f58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ab6c8d5f58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ab6c8d5f58_0_1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ab6c8d5f5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ab6c8d5f58_0_2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ab6c8d5f58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ab6c8d5f58_0_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ab6c8d5f58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ab6c8d5f58_0_2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ab6c8d5f58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abce37a6d0_1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abce37a6d0_1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ac5bcf1fe7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ac5bcf1fe7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ac5bcf1fe7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ac5bcf1fe7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b7b930f12e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b7b930f12e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b7b690a52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b7b690a52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ac5bcf1fe7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3ac5bcf1fe7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ac5bcf1fe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3ac5bcf1fe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ac5bcf1fe7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ac5bcf1fe7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b7b690a528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b7b690a528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a3c8fc054d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a3c8fc054d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a3c8fc054d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3a3c8fc054d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hyperlink" Target="https://athena.ohdsi.org/search-terms/start"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hyperlink" Target="http://1mg.com"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hyperlink" Target="http://1mg.com"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32.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8775" y="-8776"/>
            <a:ext cx="9144000" cy="570000"/>
          </a:xfrm>
          <a:prstGeom prst="rect">
            <a:avLst/>
          </a:prstGeom>
          <a:solidFill>
            <a:srgbClr val="012257"/>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 name="Google Shape;55;p13"/>
          <p:cNvSpPr txBox="1">
            <a:spLocks noGrp="1"/>
          </p:cNvSpPr>
          <p:nvPr>
            <p:ph type="ctrTitle"/>
          </p:nvPr>
        </p:nvSpPr>
        <p:spPr>
          <a:xfrm>
            <a:off x="302950" y="1551902"/>
            <a:ext cx="8520600" cy="666000"/>
          </a:xfrm>
          <a:prstGeom prst="rect">
            <a:avLst/>
          </a:prstGeom>
          <a:ln>
            <a:noFill/>
          </a:ln>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sz="2000" b="1">
                <a:latin typeface="Finlandica"/>
                <a:ea typeface="Finlandica"/>
                <a:cs typeface="Finlandica"/>
                <a:sym typeface="Finlandica"/>
              </a:rPr>
              <a:t>Leveraging LLMs and a Common Data Model to Unlock Real World Evidence from Unstructured Electronic Health Record Data in India</a:t>
            </a:r>
            <a:endParaRPr sz="2000" b="1">
              <a:latin typeface="Finlandica"/>
              <a:ea typeface="Finlandica"/>
              <a:cs typeface="Finlandica"/>
              <a:sym typeface="Finlandica"/>
            </a:endParaRPr>
          </a:p>
        </p:txBody>
      </p:sp>
      <p:sp>
        <p:nvSpPr>
          <p:cNvPr id="56" name="Google Shape;56;p13"/>
          <p:cNvSpPr/>
          <p:nvPr/>
        </p:nvSpPr>
        <p:spPr>
          <a:xfrm>
            <a:off x="-8747" y="4573491"/>
            <a:ext cx="91440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 name="Google Shape;57;p13"/>
          <p:cNvSpPr/>
          <p:nvPr/>
        </p:nvSpPr>
        <p:spPr>
          <a:xfrm>
            <a:off x="8889750" y="457350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 name="Google Shape;58;p13"/>
          <p:cNvSpPr/>
          <p:nvPr/>
        </p:nvSpPr>
        <p:spPr>
          <a:xfrm>
            <a:off x="2" y="-17534"/>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 name="Google Shape;59;p13"/>
          <p:cNvSpPr/>
          <p:nvPr/>
        </p:nvSpPr>
        <p:spPr>
          <a:xfrm>
            <a:off x="9004000" y="4573500"/>
            <a:ext cx="1488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 name="Google Shape;60;p13"/>
          <p:cNvSpPr/>
          <p:nvPr/>
        </p:nvSpPr>
        <p:spPr>
          <a:xfrm>
            <a:off x="7" y="-17534"/>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 name="Google Shape;61;p13"/>
          <p:cNvSpPr txBox="1"/>
          <p:nvPr/>
        </p:nvSpPr>
        <p:spPr>
          <a:xfrm>
            <a:off x="1314725" y="2703752"/>
            <a:ext cx="6426900" cy="954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rgbClr val="012257"/>
                </a:solidFill>
                <a:latin typeface="Finlandica"/>
                <a:ea typeface="Finlandica"/>
                <a:cs typeface="Finlandica"/>
                <a:sym typeface="Finlandica"/>
              </a:rPr>
              <a:t>Siddhant Poudyal</a:t>
            </a:r>
            <a:r>
              <a:rPr lang="en">
                <a:solidFill>
                  <a:srgbClr val="012257"/>
                </a:solidFill>
                <a:latin typeface="Finlandica"/>
                <a:ea typeface="Finlandica"/>
                <a:cs typeface="Finlandica"/>
                <a:sym typeface="Finlandica"/>
              </a:rPr>
              <a:t>, </a:t>
            </a:r>
            <a:r>
              <a:rPr lang="en" sz="1200">
                <a:solidFill>
                  <a:srgbClr val="012257"/>
                </a:solidFill>
                <a:latin typeface="Finlandica"/>
                <a:ea typeface="Finlandica"/>
                <a:cs typeface="Finlandica"/>
                <a:sym typeface="Finlandica"/>
              </a:rPr>
              <a:t>Machine Learning Engineer</a:t>
            </a:r>
            <a:endParaRPr sz="1200">
              <a:solidFill>
                <a:srgbClr val="012257"/>
              </a:solidFill>
              <a:latin typeface="Finlandica"/>
              <a:ea typeface="Finlandica"/>
              <a:cs typeface="Finlandica"/>
              <a:sym typeface="Finlandica"/>
            </a:endParaRPr>
          </a:p>
          <a:p>
            <a:pPr marL="0" lvl="0" indent="0" algn="ctr" rtl="0">
              <a:spcBef>
                <a:spcPts val="0"/>
              </a:spcBef>
              <a:spcAft>
                <a:spcPts val="0"/>
              </a:spcAft>
              <a:buNone/>
            </a:pPr>
            <a:r>
              <a:rPr lang="en" sz="1200">
                <a:solidFill>
                  <a:srgbClr val="012257"/>
                </a:solidFill>
                <a:latin typeface="Finlandica"/>
                <a:ea typeface="Finlandica"/>
                <a:cs typeface="Finlandica"/>
                <a:sym typeface="Finlandica"/>
              </a:rPr>
              <a:t>Augmented Health Systems Laboratory</a:t>
            </a:r>
            <a:endParaRPr sz="1200">
              <a:solidFill>
                <a:srgbClr val="012257"/>
              </a:solidFill>
              <a:latin typeface="Finlandica"/>
              <a:ea typeface="Finlandica"/>
              <a:cs typeface="Finlandica"/>
              <a:sym typeface="Finlandica"/>
            </a:endParaRPr>
          </a:p>
          <a:p>
            <a:pPr marL="0" lvl="0" indent="0" algn="ctr" rtl="0">
              <a:spcBef>
                <a:spcPts val="0"/>
              </a:spcBef>
              <a:spcAft>
                <a:spcPts val="0"/>
              </a:spcAft>
              <a:buNone/>
            </a:pPr>
            <a:r>
              <a:rPr lang="en" sz="1200">
                <a:solidFill>
                  <a:srgbClr val="012257"/>
                </a:solidFill>
                <a:latin typeface="Finlandica"/>
                <a:ea typeface="Finlandica"/>
                <a:cs typeface="Finlandica"/>
                <a:sym typeface="Finlandica"/>
              </a:rPr>
              <a:t>Koita Centre for Digital Health at Ashoka (KCDH-A)</a:t>
            </a:r>
            <a:endParaRPr sz="1200">
              <a:solidFill>
                <a:srgbClr val="012257"/>
              </a:solidFill>
              <a:latin typeface="Finlandica"/>
              <a:ea typeface="Finlandica"/>
              <a:cs typeface="Finlandica"/>
              <a:sym typeface="Finlandica"/>
            </a:endParaRPr>
          </a:p>
          <a:p>
            <a:pPr marL="0" lvl="0" indent="0" algn="ctr" rtl="0">
              <a:spcBef>
                <a:spcPts val="0"/>
              </a:spcBef>
              <a:spcAft>
                <a:spcPts val="0"/>
              </a:spcAft>
              <a:buNone/>
            </a:pPr>
            <a:r>
              <a:rPr lang="en" sz="1200">
                <a:solidFill>
                  <a:srgbClr val="012257"/>
                </a:solidFill>
                <a:latin typeface="Finlandica"/>
                <a:ea typeface="Finlandica"/>
                <a:cs typeface="Finlandica"/>
                <a:sym typeface="Finlandica"/>
              </a:rPr>
              <a:t>Ashoka University</a:t>
            </a:r>
            <a:endParaRPr sz="1200">
              <a:solidFill>
                <a:srgbClr val="012257"/>
              </a:solidFill>
              <a:latin typeface="Finlandica"/>
              <a:ea typeface="Finlandica"/>
              <a:cs typeface="Finlandica"/>
              <a:sym typeface="Finlandica"/>
            </a:endParaRPr>
          </a:p>
        </p:txBody>
      </p:sp>
      <p:pic>
        <p:nvPicPr>
          <p:cNvPr id="62" name="Google Shape;62;p13" title="logo-ahs.png"/>
          <p:cNvPicPr preferRelativeResize="0"/>
          <p:nvPr/>
        </p:nvPicPr>
        <p:blipFill>
          <a:blip r:embed="rId3">
            <a:alphaModFix/>
          </a:blip>
          <a:stretch>
            <a:fillRect/>
          </a:stretch>
        </p:blipFill>
        <p:spPr>
          <a:xfrm>
            <a:off x="3943075" y="3944500"/>
            <a:ext cx="1170210" cy="629000"/>
          </a:xfrm>
          <a:prstGeom prst="rect">
            <a:avLst/>
          </a:prstGeom>
          <a:noFill/>
          <a:ln>
            <a:noFill/>
          </a:ln>
        </p:spPr>
      </p:pic>
      <p:sp>
        <p:nvSpPr>
          <p:cNvPr id="63" name="Google Shape;63;p13"/>
          <p:cNvSpPr txBox="1">
            <a:spLocks noGrp="1"/>
          </p:cNvSpPr>
          <p:nvPr>
            <p:ph type="ctrTitle"/>
          </p:nvPr>
        </p:nvSpPr>
        <p:spPr>
          <a:xfrm>
            <a:off x="483400" y="762867"/>
            <a:ext cx="8520600" cy="666000"/>
          </a:xfrm>
          <a:prstGeom prst="rect">
            <a:avLst/>
          </a:prstGeom>
          <a:ln>
            <a:noFill/>
          </a:ln>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sz="2000" b="1">
                <a:solidFill>
                  <a:srgbClr val="F18C19"/>
                </a:solidFill>
                <a:latin typeface="Finlandica"/>
                <a:ea typeface="Finlandica"/>
                <a:cs typeface="Finlandica"/>
                <a:sym typeface="Finlandica"/>
              </a:rPr>
              <a:t>OHDSI India Symposium 2025</a:t>
            </a:r>
            <a:endParaRPr sz="2000" b="1">
              <a:solidFill>
                <a:srgbClr val="F18C19"/>
              </a:solidFill>
              <a:latin typeface="Finlandica"/>
              <a:ea typeface="Finlandica"/>
              <a:cs typeface="Finlandica"/>
              <a:sym typeface="Finlandica"/>
            </a:endParaRPr>
          </a:p>
          <a:p>
            <a:pPr marL="0" lvl="0" indent="0" algn="ctr" rtl="0">
              <a:spcBef>
                <a:spcPts val="0"/>
              </a:spcBef>
              <a:spcAft>
                <a:spcPts val="0"/>
              </a:spcAft>
              <a:buNone/>
            </a:pPr>
            <a:r>
              <a:rPr lang="en" sz="1300">
                <a:solidFill>
                  <a:srgbClr val="F18C19"/>
                </a:solidFill>
                <a:latin typeface="Finlandica"/>
                <a:ea typeface="Finlandica"/>
                <a:cs typeface="Finlandica"/>
                <a:sym typeface="Finlandica"/>
              </a:rPr>
              <a:t>2 Dec 2025</a:t>
            </a:r>
            <a:endParaRPr sz="1300">
              <a:solidFill>
                <a:srgbClr val="F18C19"/>
              </a:solidFill>
              <a:latin typeface="Finlandica"/>
              <a:ea typeface="Finlandica"/>
              <a:cs typeface="Finlandica"/>
              <a:sym typeface="Finlandica"/>
            </a:endParaRPr>
          </a:p>
          <a:p>
            <a:pPr marL="0" lvl="0" indent="0" algn="ctr" rtl="0">
              <a:spcBef>
                <a:spcPts val="0"/>
              </a:spcBef>
              <a:spcAft>
                <a:spcPts val="0"/>
              </a:spcAft>
              <a:buNone/>
            </a:pPr>
            <a:r>
              <a:rPr lang="en" sz="1300">
                <a:solidFill>
                  <a:srgbClr val="F18C19"/>
                </a:solidFill>
                <a:latin typeface="Finlandica"/>
                <a:ea typeface="Finlandica"/>
                <a:cs typeface="Finlandica"/>
                <a:sym typeface="Finlandica"/>
              </a:rPr>
              <a:t>Bengaluru, India</a:t>
            </a:r>
            <a:endParaRPr sz="1300">
              <a:solidFill>
                <a:srgbClr val="F18C19"/>
              </a:solidFill>
              <a:latin typeface="Finlandica"/>
              <a:ea typeface="Finlandica"/>
              <a:cs typeface="Finlandica"/>
              <a:sym typeface="Finlandica"/>
            </a:endParaRPr>
          </a:p>
        </p:txBody>
      </p:sp>
      <p:pic>
        <p:nvPicPr>
          <p:cNvPr id="64" name="Google Shape;64;p13"/>
          <p:cNvPicPr preferRelativeResize="0"/>
          <p:nvPr/>
        </p:nvPicPr>
        <p:blipFill rotWithShape="1">
          <a:blip r:embed="rId4">
            <a:alphaModFix/>
          </a:blip>
          <a:srcRect l="3423" t="31402" r="8796" b="36198"/>
          <a:stretch/>
        </p:blipFill>
        <p:spPr>
          <a:xfrm>
            <a:off x="133214" y="3974000"/>
            <a:ext cx="1544238" cy="570000"/>
          </a:xfrm>
          <a:prstGeom prst="rect">
            <a:avLst/>
          </a:prstGeom>
          <a:noFill/>
          <a:ln>
            <a:noFill/>
          </a:ln>
        </p:spPr>
      </p:pic>
      <p:pic>
        <p:nvPicPr>
          <p:cNvPr id="65" name="Google Shape;65;p13" title="Screenshot 2025-12-02 at 2.32.16 AM.png"/>
          <p:cNvPicPr preferRelativeResize="0"/>
          <p:nvPr/>
        </p:nvPicPr>
        <p:blipFill>
          <a:blip r:embed="rId5">
            <a:alphaModFix/>
          </a:blip>
          <a:stretch>
            <a:fillRect/>
          </a:stretch>
        </p:blipFill>
        <p:spPr>
          <a:xfrm>
            <a:off x="7329910" y="3979824"/>
            <a:ext cx="1674091" cy="570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4"/>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200" b="1">
                <a:solidFill>
                  <a:schemeClr val="lt1"/>
                </a:solidFill>
                <a:latin typeface="Finlandica"/>
                <a:ea typeface="Finlandica"/>
                <a:cs typeface="Finlandica"/>
                <a:sym typeface="Finlandica"/>
              </a:rPr>
              <a:t>Aim</a:t>
            </a:r>
            <a:endParaRPr sz="2200" b="1">
              <a:solidFill>
                <a:schemeClr val="lt1"/>
              </a:solidFill>
              <a:latin typeface="Finlandica"/>
              <a:ea typeface="Finlandica"/>
              <a:cs typeface="Finlandica"/>
              <a:sym typeface="Finlandica"/>
            </a:endParaRPr>
          </a:p>
        </p:txBody>
      </p:sp>
      <p:sp>
        <p:nvSpPr>
          <p:cNvPr id="71" name="Google Shape;71;p14"/>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 name="Google Shape;72;p14"/>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 name="Google Shape;73;p14"/>
          <p:cNvSpPr txBox="1"/>
          <p:nvPr/>
        </p:nvSpPr>
        <p:spPr>
          <a:xfrm>
            <a:off x="148800" y="722550"/>
            <a:ext cx="8855100" cy="3698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1200"/>
              </a:spcBef>
              <a:spcAft>
                <a:spcPts val="0"/>
              </a:spcAft>
              <a:buClr>
                <a:schemeClr val="dk1"/>
              </a:buClr>
              <a:buSzPts val="1800"/>
              <a:buFont typeface="Finlandica"/>
              <a:buChar char="●"/>
            </a:pPr>
            <a:r>
              <a:rPr lang="en" sz="1800">
                <a:solidFill>
                  <a:schemeClr val="dk1"/>
                </a:solidFill>
                <a:highlight>
                  <a:schemeClr val="lt1"/>
                </a:highlight>
                <a:latin typeface="Finlandica"/>
                <a:ea typeface="Finlandica"/>
                <a:cs typeface="Finlandica"/>
                <a:sym typeface="Finlandica"/>
              </a:rPr>
              <a:t>To analyse current antibiotic prescription patterns in India among outpatients with febrile respiratory illness</a:t>
            </a:r>
            <a:endParaRPr sz="1800">
              <a:solidFill>
                <a:schemeClr val="dk1"/>
              </a:solidFill>
              <a:highlight>
                <a:schemeClr val="lt1"/>
              </a:highlight>
              <a:latin typeface="Finlandica"/>
              <a:ea typeface="Finlandica"/>
              <a:cs typeface="Finlandica"/>
              <a:sym typeface="Finlandica"/>
            </a:endParaRPr>
          </a:p>
          <a:p>
            <a:pPr marL="457200" lvl="0" indent="-342900" algn="l" rtl="0">
              <a:lnSpc>
                <a:spcPct val="115000"/>
              </a:lnSpc>
              <a:spcBef>
                <a:spcPts val="0"/>
              </a:spcBef>
              <a:spcAft>
                <a:spcPts val="0"/>
              </a:spcAft>
              <a:buClr>
                <a:schemeClr val="dk1"/>
              </a:buClr>
              <a:buSzPts val="1800"/>
              <a:buFont typeface="Finlandica"/>
              <a:buChar char="●"/>
            </a:pPr>
            <a:r>
              <a:rPr lang="en" sz="1800">
                <a:solidFill>
                  <a:schemeClr val="dk1"/>
                </a:solidFill>
                <a:highlight>
                  <a:schemeClr val="lt1"/>
                </a:highlight>
                <a:latin typeface="Finlandica"/>
                <a:ea typeface="Finlandica"/>
                <a:cs typeface="Finlandica"/>
                <a:sym typeface="Finlandica"/>
              </a:rPr>
              <a:t>To leverage open source Large Language Models and NLP algorithms to extract, transform and load clinical features from unstructured clinical notes into the Observational Medical Outcomes Partnership (OMOP) Common Data Model (CDM)</a:t>
            </a:r>
            <a:endParaRPr sz="1800">
              <a:solidFill>
                <a:schemeClr val="dk1"/>
              </a:solidFill>
              <a:highlight>
                <a:schemeClr val="lt1"/>
              </a:highlight>
              <a:latin typeface="Finlandica"/>
              <a:ea typeface="Finlandica"/>
              <a:cs typeface="Finlandica"/>
              <a:sym typeface="Finlandica"/>
            </a:endParaRPr>
          </a:p>
        </p:txBody>
      </p:sp>
      <p:pic>
        <p:nvPicPr>
          <p:cNvPr id="74" name="Google Shape;74;p14" title="logo-ahs.png"/>
          <p:cNvPicPr preferRelativeResize="0"/>
          <p:nvPr/>
        </p:nvPicPr>
        <p:blipFill>
          <a:blip r:embed="rId3">
            <a:alphaModFix/>
          </a:blip>
          <a:stretch>
            <a:fillRect/>
          </a:stretch>
        </p:blipFill>
        <p:spPr>
          <a:xfrm>
            <a:off x="0" y="4666325"/>
            <a:ext cx="887775" cy="477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5"/>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200" b="1">
                <a:solidFill>
                  <a:schemeClr val="lt1"/>
                </a:solidFill>
                <a:latin typeface="Finlandica"/>
                <a:ea typeface="Finlandica"/>
                <a:cs typeface="Finlandica"/>
                <a:sym typeface="Finlandica"/>
              </a:rPr>
              <a:t>Gap</a:t>
            </a:r>
            <a:endParaRPr sz="2200" b="1">
              <a:solidFill>
                <a:schemeClr val="lt1"/>
              </a:solidFill>
              <a:latin typeface="Finlandica"/>
              <a:ea typeface="Finlandica"/>
              <a:cs typeface="Finlandica"/>
              <a:sym typeface="Finlandica"/>
            </a:endParaRPr>
          </a:p>
        </p:txBody>
      </p:sp>
      <p:sp>
        <p:nvSpPr>
          <p:cNvPr id="80" name="Google Shape;80;p15"/>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 name="Google Shape;81;p15"/>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 name="Google Shape;82;p15"/>
          <p:cNvSpPr txBox="1"/>
          <p:nvPr/>
        </p:nvSpPr>
        <p:spPr>
          <a:xfrm>
            <a:off x="263100" y="692600"/>
            <a:ext cx="8626500" cy="36822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dk1"/>
              </a:buClr>
              <a:buSzPts val="1800"/>
              <a:buFont typeface="Finlandica"/>
              <a:buChar char="●"/>
            </a:pPr>
            <a:r>
              <a:rPr lang="en" sz="1800">
                <a:solidFill>
                  <a:schemeClr val="dk1"/>
                </a:solidFill>
                <a:latin typeface="Finlandica"/>
                <a:ea typeface="Finlandica"/>
                <a:cs typeface="Finlandica"/>
                <a:sym typeface="Finlandica"/>
              </a:rPr>
              <a:t>Intended analysis is difficult as current open-source Large Language Models </a:t>
            </a:r>
            <a:r>
              <a:rPr lang="en" sz="1800" b="1">
                <a:solidFill>
                  <a:schemeClr val="dk1"/>
                </a:solidFill>
                <a:latin typeface="Finlandica"/>
                <a:ea typeface="Finlandica"/>
                <a:cs typeface="Finlandica"/>
                <a:sym typeface="Finlandica"/>
              </a:rPr>
              <a:t>perform poorly </a:t>
            </a:r>
            <a:r>
              <a:rPr lang="en" sz="1800">
                <a:solidFill>
                  <a:schemeClr val="dk1"/>
                </a:solidFill>
                <a:latin typeface="Finlandica"/>
                <a:ea typeface="Finlandica"/>
                <a:cs typeface="Finlandica"/>
                <a:sym typeface="Finlandica"/>
              </a:rPr>
              <a:t>on tasks</a:t>
            </a:r>
            <a:r>
              <a:rPr lang="en" sz="1800" b="1">
                <a:solidFill>
                  <a:schemeClr val="dk1"/>
                </a:solidFill>
                <a:latin typeface="Finlandica"/>
                <a:ea typeface="Finlandica"/>
                <a:cs typeface="Finlandica"/>
                <a:sym typeface="Finlandica"/>
              </a:rPr>
              <a:t> </a:t>
            </a:r>
            <a:r>
              <a:rPr lang="en" sz="1800">
                <a:solidFill>
                  <a:schemeClr val="dk1"/>
                </a:solidFill>
                <a:latin typeface="Finlandica"/>
                <a:ea typeface="Finlandica"/>
                <a:cs typeface="Finlandica"/>
                <a:sym typeface="Finlandica"/>
              </a:rPr>
              <a:t>involving medication terms specific to Indian settings. </a:t>
            </a:r>
            <a:endParaRPr sz="1800">
              <a:solidFill>
                <a:schemeClr val="dk1"/>
              </a:solidFill>
              <a:latin typeface="Finlandica"/>
              <a:ea typeface="Finlandica"/>
              <a:cs typeface="Finlandica"/>
              <a:sym typeface="Finlandica"/>
            </a:endParaRPr>
          </a:p>
          <a:p>
            <a:pPr marL="457200" lvl="0" indent="0" algn="l" rtl="0">
              <a:lnSpc>
                <a:spcPct val="115000"/>
              </a:lnSpc>
              <a:spcBef>
                <a:spcPts val="1200"/>
              </a:spcBef>
              <a:spcAft>
                <a:spcPts val="0"/>
              </a:spcAft>
              <a:buNone/>
            </a:pPr>
            <a:endParaRPr sz="1800">
              <a:solidFill>
                <a:schemeClr val="dk1"/>
              </a:solidFill>
              <a:latin typeface="Finlandica"/>
              <a:ea typeface="Finlandica"/>
              <a:cs typeface="Finlandica"/>
              <a:sym typeface="Finlandica"/>
            </a:endParaRPr>
          </a:p>
          <a:p>
            <a:pPr marL="457200" lvl="0" indent="-342900" algn="l" rtl="0">
              <a:lnSpc>
                <a:spcPct val="115000"/>
              </a:lnSpc>
              <a:spcBef>
                <a:spcPts val="1200"/>
              </a:spcBef>
              <a:spcAft>
                <a:spcPts val="0"/>
              </a:spcAft>
              <a:buClr>
                <a:schemeClr val="dk1"/>
              </a:buClr>
              <a:buSzPts val="1800"/>
              <a:buFont typeface="Finlandica"/>
              <a:buChar char="●"/>
            </a:pPr>
            <a:r>
              <a:rPr lang="en" sz="1800">
                <a:solidFill>
                  <a:schemeClr val="dk1"/>
                </a:solidFill>
                <a:latin typeface="Finlandica"/>
                <a:ea typeface="Finlandica"/>
                <a:cs typeface="Finlandica"/>
                <a:sym typeface="Finlandica"/>
              </a:rPr>
              <a:t>A comprehensive, standardised </a:t>
            </a:r>
            <a:r>
              <a:rPr lang="en" sz="1800" b="1">
                <a:solidFill>
                  <a:schemeClr val="dk1"/>
                </a:solidFill>
                <a:latin typeface="Finlandica"/>
                <a:ea typeface="Finlandica"/>
                <a:cs typeface="Finlandica"/>
                <a:sym typeface="Finlandica"/>
              </a:rPr>
              <a:t>knowledge base</a:t>
            </a:r>
            <a:r>
              <a:rPr lang="en" sz="1800">
                <a:solidFill>
                  <a:schemeClr val="dk1"/>
                </a:solidFill>
                <a:latin typeface="Finlandica"/>
                <a:ea typeface="Finlandica"/>
                <a:cs typeface="Finlandica"/>
                <a:sym typeface="Finlandica"/>
              </a:rPr>
              <a:t> of Indian medication terms is required that can be leveraged by Language Models (through pre-training or fine-tuning or in-context learning) for better performance on clinical notes in Indian settings.</a:t>
            </a:r>
            <a:endParaRPr sz="1800">
              <a:solidFill>
                <a:schemeClr val="dk1"/>
              </a:solidFill>
              <a:latin typeface="Finlandica"/>
              <a:ea typeface="Finlandica"/>
              <a:cs typeface="Finlandica"/>
              <a:sym typeface="Finlandica"/>
            </a:endParaRPr>
          </a:p>
          <a:p>
            <a:pPr marL="0" lvl="0" indent="0" algn="l" rtl="0">
              <a:spcBef>
                <a:spcPts val="1200"/>
              </a:spcBef>
              <a:spcAft>
                <a:spcPts val="0"/>
              </a:spcAft>
              <a:buNone/>
            </a:pPr>
            <a:endParaRPr sz="1800">
              <a:solidFill>
                <a:schemeClr val="dk1"/>
              </a:solidFill>
              <a:latin typeface="Finlandica"/>
              <a:ea typeface="Finlandica"/>
              <a:cs typeface="Finlandica"/>
              <a:sym typeface="Finlandica"/>
            </a:endParaRPr>
          </a:p>
        </p:txBody>
      </p:sp>
      <p:pic>
        <p:nvPicPr>
          <p:cNvPr id="83" name="Google Shape;83;p15" title="logo-ahs.png"/>
          <p:cNvPicPr preferRelativeResize="0"/>
          <p:nvPr/>
        </p:nvPicPr>
        <p:blipFill>
          <a:blip r:embed="rId3">
            <a:alphaModFix/>
          </a:blip>
          <a:stretch>
            <a:fillRect/>
          </a:stretch>
        </p:blipFill>
        <p:spPr>
          <a:xfrm>
            <a:off x="0" y="4666325"/>
            <a:ext cx="887775" cy="477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200" b="1">
                <a:solidFill>
                  <a:schemeClr val="lt1"/>
                </a:solidFill>
                <a:latin typeface="Finlandica"/>
                <a:ea typeface="Finlandica"/>
                <a:cs typeface="Finlandica"/>
                <a:sym typeface="Finlandica"/>
              </a:rPr>
              <a:t>Knowledge base development</a:t>
            </a:r>
            <a:endParaRPr sz="2200" b="1">
              <a:solidFill>
                <a:schemeClr val="lt1"/>
              </a:solidFill>
              <a:latin typeface="Finlandica"/>
              <a:ea typeface="Finlandica"/>
              <a:cs typeface="Finlandica"/>
              <a:sym typeface="Finlandica"/>
            </a:endParaRPr>
          </a:p>
        </p:txBody>
      </p:sp>
      <p:sp>
        <p:nvSpPr>
          <p:cNvPr id="89" name="Google Shape;89;p16"/>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0" name="Google Shape;90;p16"/>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1" name="Google Shape;91;p16"/>
          <p:cNvSpPr txBox="1"/>
          <p:nvPr/>
        </p:nvSpPr>
        <p:spPr>
          <a:xfrm>
            <a:off x="148800" y="675075"/>
            <a:ext cx="8855100" cy="35946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Clr>
                <a:schemeClr val="dk1"/>
              </a:buClr>
              <a:buSzPts val="1600"/>
              <a:buFont typeface="Finlandica"/>
              <a:buChar char="●"/>
            </a:pPr>
            <a:r>
              <a:rPr lang="en" sz="1600">
                <a:solidFill>
                  <a:schemeClr val="dk1"/>
                </a:solidFill>
                <a:latin typeface="Finlandica"/>
                <a:ea typeface="Finlandica"/>
                <a:cs typeface="Finlandica"/>
                <a:sym typeface="Finlandica"/>
              </a:rPr>
              <a:t>To develop a comprehensive, interoperable knowledge base, we first need a list of all medication terms specific to India. </a:t>
            </a:r>
            <a:endParaRPr sz="1600">
              <a:solidFill>
                <a:schemeClr val="dk1"/>
              </a:solidFill>
              <a:latin typeface="Finlandica"/>
              <a:ea typeface="Finlandica"/>
              <a:cs typeface="Finlandica"/>
              <a:sym typeface="Finlandica"/>
            </a:endParaRPr>
          </a:p>
          <a:p>
            <a:pPr marL="457200" lvl="0" indent="-330200" algn="l" rtl="0">
              <a:lnSpc>
                <a:spcPct val="115000"/>
              </a:lnSpc>
              <a:spcBef>
                <a:spcPts val="0"/>
              </a:spcBef>
              <a:spcAft>
                <a:spcPts val="0"/>
              </a:spcAft>
              <a:buClr>
                <a:schemeClr val="dk1"/>
              </a:buClr>
              <a:buSzPts val="1600"/>
              <a:buFont typeface="Finlandica"/>
              <a:buChar char="●"/>
            </a:pPr>
            <a:r>
              <a:rPr lang="en" sz="1600">
                <a:solidFill>
                  <a:schemeClr val="dk1"/>
                </a:solidFill>
                <a:latin typeface="Finlandica"/>
                <a:ea typeface="Finlandica"/>
                <a:cs typeface="Finlandica"/>
                <a:sym typeface="Finlandica"/>
              </a:rPr>
              <a:t>Amongst the many ecommerce platforms in India selling both prescription-based and over-the-counter medication, we extracted medication terms from 1mg.com.</a:t>
            </a:r>
            <a:endParaRPr sz="1600">
              <a:solidFill>
                <a:schemeClr val="dk1"/>
              </a:solidFill>
              <a:latin typeface="Finlandica"/>
              <a:ea typeface="Finlandica"/>
              <a:cs typeface="Finlandica"/>
              <a:sym typeface="Finlandica"/>
            </a:endParaRPr>
          </a:p>
          <a:p>
            <a:pPr marL="457200" lvl="0" indent="-330200" algn="l" rtl="0">
              <a:lnSpc>
                <a:spcPct val="115000"/>
              </a:lnSpc>
              <a:spcBef>
                <a:spcPts val="0"/>
              </a:spcBef>
              <a:spcAft>
                <a:spcPts val="0"/>
              </a:spcAft>
              <a:buClr>
                <a:schemeClr val="dk1"/>
              </a:buClr>
              <a:buSzPts val="1600"/>
              <a:buFont typeface="Finlandica"/>
              <a:buChar char="●"/>
            </a:pPr>
            <a:r>
              <a:rPr lang="en" sz="1600">
                <a:solidFill>
                  <a:schemeClr val="dk1"/>
                </a:solidFill>
                <a:latin typeface="Finlandica"/>
                <a:ea typeface="Finlandica"/>
                <a:cs typeface="Finlandica"/>
                <a:sym typeface="Finlandica"/>
              </a:rPr>
              <a:t>The extraction process resulted in lists of </a:t>
            </a:r>
            <a:r>
              <a:rPr lang="en" sz="1600" b="1">
                <a:solidFill>
                  <a:schemeClr val="dk1"/>
                </a:solidFill>
                <a:latin typeface="Finlandica"/>
                <a:ea typeface="Finlandica"/>
                <a:cs typeface="Finlandica"/>
                <a:sym typeface="Finlandica"/>
              </a:rPr>
              <a:t>3,63,525</a:t>
            </a:r>
            <a:r>
              <a:rPr lang="en" sz="1600">
                <a:solidFill>
                  <a:schemeClr val="dk1"/>
                </a:solidFill>
                <a:latin typeface="Finlandica"/>
                <a:ea typeface="Finlandica"/>
                <a:cs typeface="Finlandica"/>
                <a:sym typeface="Finlandica"/>
              </a:rPr>
              <a:t> Brand Drug names and </a:t>
            </a:r>
            <a:r>
              <a:rPr lang="en" sz="1600" b="1">
                <a:solidFill>
                  <a:schemeClr val="dk1"/>
                </a:solidFill>
                <a:latin typeface="Finlandica"/>
                <a:ea typeface="Finlandica"/>
                <a:cs typeface="Finlandica"/>
                <a:sym typeface="Finlandica"/>
              </a:rPr>
              <a:t>1865</a:t>
            </a:r>
            <a:r>
              <a:rPr lang="en" sz="1600">
                <a:solidFill>
                  <a:schemeClr val="dk1"/>
                </a:solidFill>
                <a:latin typeface="Finlandica"/>
                <a:ea typeface="Finlandica"/>
                <a:cs typeface="Finlandica"/>
                <a:sym typeface="Finlandica"/>
              </a:rPr>
              <a:t> unique Active Pharmaceutical Ingredients.</a:t>
            </a:r>
            <a:endParaRPr sz="1600">
              <a:solidFill>
                <a:schemeClr val="dk2"/>
              </a:solidFill>
              <a:latin typeface="Finlandica"/>
              <a:ea typeface="Finlandica"/>
              <a:cs typeface="Finlandica"/>
              <a:sym typeface="Finlandica"/>
            </a:endParaRPr>
          </a:p>
        </p:txBody>
      </p:sp>
      <p:pic>
        <p:nvPicPr>
          <p:cNvPr id="92" name="Google Shape;92;p16"/>
          <p:cNvPicPr preferRelativeResize="0"/>
          <p:nvPr/>
        </p:nvPicPr>
        <p:blipFill>
          <a:blip r:embed="rId3">
            <a:alphaModFix/>
          </a:blip>
          <a:stretch>
            <a:fillRect/>
          </a:stretch>
        </p:blipFill>
        <p:spPr>
          <a:xfrm>
            <a:off x="339725" y="2259600"/>
            <a:ext cx="8464527" cy="2252525"/>
          </a:xfrm>
          <a:prstGeom prst="rect">
            <a:avLst/>
          </a:prstGeom>
          <a:noFill/>
          <a:ln>
            <a:noFill/>
          </a:ln>
        </p:spPr>
      </p:pic>
      <p:pic>
        <p:nvPicPr>
          <p:cNvPr id="93" name="Google Shape;93;p16" title="logo-ahs.png"/>
          <p:cNvPicPr preferRelativeResize="0"/>
          <p:nvPr/>
        </p:nvPicPr>
        <p:blipFill>
          <a:blip r:embed="rId4">
            <a:alphaModFix/>
          </a:blip>
          <a:stretch>
            <a:fillRect/>
          </a:stretch>
        </p:blipFill>
        <p:spPr>
          <a:xfrm>
            <a:off x="0" y="4666325"/>
            <a:ext cx="887775" cy="477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7"/>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200" b="1">
                <a:solidFill>
                  <a:schemeClr val="lt1"/>
                </a:solidFill>
                <a:latin typeface="Finlandica"/>
                <a:ea typeface="Finlandica"/>
                <a:cs typeface="Finlandica"/>
                <a:sym typeface="Finlandica"/>
              </a:rPr>
              <a:t>NRCeS Common Drug Codes for India tables</a:t>
            </a:r>
            <a:endParaRPr sz="2200" b="1">
              <a:solidFill>
                <a:schemeClr val="lt1"/>
              </a:solidFill>
              <a:latin typeface="Finlandica"/>
              <a:ea typeface="Finlandica"/>
              <a:cs typeface="Finlandica"/>
              <a:sym typeface="Finlandica"/>
            </a:endParaRPr>
          </a:p>
        </p:txBody>
      </p:sp>
      <p:sp>
        <p:nvSpPr>
          <p:cNvPr id="99" name="Google Shape;99;p17"/>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 name="Google Shape;100;p17"/>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01" name="Google Shape;101;p17"/>
          <p:cNvPicPr preferRelativeResize="0"/>
          <p:nvPr/>
        </p:nvPicPr>
        <p:blipFill>
          <a:blip r:embed="rId3">
            <a:alphaModFix/>
          </a:blip>
          <a:stretch>
            <a:fillRect/>
          </a:stretch>
        </p:blipFill>
        <p:spPr>
          <a:xfrm>
            <a:off x="1823183" y="613250"/>
            <a:ext cx="5769431" cy="4442575"/>
          </a:xfrm>
          <a:prstGeom prst="rect">
            <a:avLst/>
          </a:prstGeom>
          <a:noFill/>
          <a:ln>
            <a:noFill/>
          </a:ln>
        </p:spPr>
      </p:pic>
      <p:pic>
        <p:nvPicPr>
          <p:cNvPr id="102" name="Google Shape;102;p17" title="logo-ahs.png"/>
          <p:cNvPicPr preferRelativeResize="0"/>
          <p:nvPr/>
        </p:nvPicPr>
        <p:blipFill>
          <a:blip r:embed="rId4">
            <a:alphaModFix/>
          </a:blip>
          <a:stretch>
            <a:fillRect/>
          </a:stretch>
        </p:blipFill>
        <p:spPr>
          <a:xfrm>
            <a:off x="0" y="4666325"/>
            <a:ext cx="887775" cy="477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8"/>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200" b="1">
                <a:solidFill>
                  <a:schemeClr val="lt1"/>
                </a:solidFill>
                <a:latin typeface="Finlandica"/>
                <a:ea typeface="Finlandica"/>
                <a:cs typeface="Finlandica"/>
                <a:sym typeface="Finlandica"/>
              </a:rPr>
              <a:t>Knowledge base development</a:t>
            </a:r>
            <a:endParaRPr sz="2200" b="1">
              <a:solidFill>
                <a:schemeClr val="lt1"/>
              </a:solidFill>
              <a:latin typeface="Finlandica"/>
              <a:ea typeface="Finlandica"/>
              <a:cs typeface="Finlandica"/>
              <a:sym typeface="Finlandica"/>
            </a:endParaRPr>
          </a:p>
        </p:txBody>
      </p:sp>
      <p:sp>
        <p:nvSpPr>
          <p:cNvPr id="108" name="Google Shape;108;p18"/>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 name="Google Shape;109;p18"/>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 name="Google Shape;110;p18"/>
          <p:cNvSpPr txBox="1"/>
          <p:nvPr/>
        </p:nvSpPr>
        <p:spPr>
          <a:xfrm>
            <a:off x="148800" y="675075"/>
            <a:ext cx="4094400" cy="35946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Clr>
                <a:schemeClr val="dk1"/>
              </a:buClr>
              <a:buSzPts val="1600"/>
              <a:buFont typeface="Finlandica"/>
              <a:buChar char="●"/>
            </a:pPr>
            <a:r>
              <a:rPr lang="en" sz="1600">
                <a:solidFill>
                  <a:schemeClr val="dk1"/>
                </a:solidFill>
                <a:latin typeface="Finlandica"/>
                <a:ea typeface="Finlandica"/>
                <a:cs typeface="Finlandica"/>
                <a:sym typeface="Finlandica"/>
              </a:rPr>
              <a:t>We map the API terms to the NRCeS CDCI Substances table by string matching.</a:t>
            </a:r>
            <a:endParaRPr sz="1600">
              <a:solidFill>
                <a:schemeClr val="dk1"/>
              </a:solidFill>
              <a:latin typeface="Finlandica"/>
              <a:ea typeface="Finlandica"/>
              <a:cs typeface="Finlandica"/>
              <a:sym typeface="Finlandica"/>
            </a:endParaRPr>
          </a:p>
          <a:p>
            <a:pPr marL="457200" lvl="0" indent="-330200" algn="l" rtl="0">
              <a:lnSpc>
                <a:spcPct val="115000"/>
              </a:lnSpc>
              <a:spcBef>
                <a:spcPts val="0"/>
              </a:spcBef>
              <a:spcAft>
                <a:spcPts val="0"/>
              </a:spcAft>
              <a:buClr>
                <a:schemeClr val="dk1"/>
              </a:buClr>
              <a:buSzPts val="1600"/>
              <a:buFont typeface="Finlandica"/>
              <a:buChar char="●"/>
            </a:pPr>
            <a:r>
              <a:rPr lang="en" sz="1600">
                <a:solidFill>
                  <a:schemeClr val="dk1"/>
                </a:solidFill>
                <a:latin typeface="Finlandica"/>
                <a:ea typeface="Finlandica"/>
                <a:cs typeface="Finlandica"/>
                <a:sym typeface="Finlandica"/>
              </a:rPr>
              <a:t>Next, we see how many of these terms (mapped to NRCeS CDCI) were mapped to standard.</a:t>
            </a:r>
            <a:endParaRPr sz="1600">
              <a:solidFill>
                <a:schemeClr val="dk1"/>
              </a:solidFill>
              <a:latin typeface="Finlandica"/>
              <a:ea typeface="Finlandica"/>
              <a:cs typeface="Finlandica"/>
              <a:sym typeface="Finlandica"/>
            </a:endParaRPr>
          </a:p>
        </p:txBody>
      </p:sp>
      <p:pic>
        <p:nvPicPr>
          <p:cNvPr id="111" name="Google Shape;111;p18"/>
          <p:cNvPicPr preferRelativeResize="0"/>
          <p:nvPr/>
        </p:nvPicPr>
        <p:blipFill>
          <a:blip r:embed="rId3">
            <a:alphaModFix/>
          </a:blip>
          <a:stretch>
            <a:fillRect/>
          </a:stretch>
        </p:blipFill>
        <p:spPr>
          <a:xfrm>
            <a:off x="4121798" y="675075"/>
            <a:ext cx="5022201" cy="4111126"/>
          </a:xfrm>
          <a:prstGeom prst="rect">
            <a:avLst/>
          </a:prstGeom>
          <a:noFill/>
          <a:ln>
            <a:noFill/>
          </a:ln>
        </p:spPr>
      </p:pic>
      <p:pic>
        <p:nvPicPr>
          <p:cNvPr id="112" name="Google Shape;112;p18" title="logo-ahs.png"/>
          <p:cNvPicPr preferRelativeResize="0"/>
          <p:nvPr/>
        </p:nvPicPr>
        <p:blipFill>
          <a:blip r:embed="rId4">
            <a:alphaModFix/>
          </a:blip>
          <a:stretch>
            <a:fillRect/>
          </a:stretch>
        </p:blipFill>
        <p:spPr>
          <a:xfrm>
            <a:off x="0" y="4666325"/>
            <a:ext cx="887775" cy="477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9"/>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200" b="1">
                <a:solidFill>
                  <a:schemeClr val="lt1"/>
                </a:solidFill>
                <a:latin typeface="Finlandica"/>
                <a:ea typeface="Finlandica"/>
                <a:cs typeface="Finlandica"/>
                <a:sym typeface="Finlandica"/>
              </a:rPr>
              <a:t>Knowledge base development</a:t>
            </a:r>
            <a:endParaRPr sz="2200" b="1">
              <a:solidFill>
                <a:schemeClr val="lt1"/>
              </a:solidFill>
              <a:latin typeface="Finlandica"/>
              <a:ea typeface="Finlandica"/>
              <a:cs typeface="Finlandica"/>
              <a:sym typeface="Finlandica"/>
            </a:endParaRPr>
          </a:p>
        </p:txBody>
      </p:sp>
      <p:sp>
        <p:nvSpPr>
          <p:cNvPr id="118" name="Google Shape;118;p19"/>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 name="Google Shape;119;p19"/>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 name="Google Shape;120;p19"/>
          <p:cNvSpPr txBox="1"/>
          <p:nvPr/>
        </p:nvSpPr>
        <p:spPr>
          <a:xfrm>
            <a:off x="148800" y="692600"/>
            <a:ext cx="8855100" cy="38223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Finlandica"/>
              <a:buChar char="●"/>
            </a:pPr>
            <a:r>
              <a:rPr lang="en" sz="1600">
                <a:solidFill>
                  <a:schemeClr val="dk1"/>
                </a:solidFill>
                <a:latin typeface="Finlandica"/>
                <a:ea typeface="Finlandica"/>
                <a:cs typeface="Finlandica"/>
                <a:sym typeface="Finlandica"/>
              </a:rPr>
              <a:t>We assess how many Substances in the NRCeS Substance table map to Standard using OHDSI Standardised Vocabularies and ATHENA Concept Relationships table</a:t>
            </a:r>
            <a:endParaRPr sz="1600">
              <a:solidFill>
                <a:schemeClr val="dk1"/>
              </a:solidFill>
              <a:latin typeface="Finlandica"/>
              <a:ea typeface="Finlandica"/>
              <a:cs typeface="Finlandica"/>
              <a:sym typeface="Finlandica"/>
            </a:endParaRPr>
          </a:p>
        </p:txBody>
      </p:sp>
      <p:pic>
        <p:nvPicPr>
          <p:cNvPr id="121" name="Google Shape;121;p19"/>
          <p:cNvPicPr preferRelativeResize="0"/>
          <p:nvPr/>
        </p:nvPicPr>
        <p:blipFill>
          <a:blip r:embed="rId3">
            <a:alphaModFix/>
          </a:blip>
          <a:stretch>
            <a:fillRect/>
          </a:stretch>
        </p:blipFill>
        <p:spPr>
          <a:xfrm>
            <a:off x="4572000" y="1767700"/>
            <a:ext cx="4431999" cy="2350592"/>
          </a:xfrm>
          <a:prstGeom prst="rect">
            <a:avLst/>
          </a:prstGeom>
          <a:noFill/>
          <a:ln>
            <a:noFill/>
          </a:ln>
        </p:spPr>
      </p:pic>
      <p:pic>
        <p:nvPicPr>
          <p:cNvPr id="122" name="Google Shape;122;p19"/>
          <p:cNvPicPr preferRelativeResize="0"/>
          <p:nvPr/>
        </p:nvPicPr>
        <p:blipFill>
          <a:blip r:embed="rId4">
            <a:alphaModFix/>
          </a:blip>
          <a:stretch>
            <a:fillRect/>
          </a:stretch>
        </p:blipFill>
        <p:spPr>
          <a:xfrm>
            <a:off x="148800" y="1767712"/>
            <a:ext cx="4506250" cy="2484150"/>
          </a:xfrm>
          <a:prstGeom prst="rect">
            <a:avLst/>
          </a:prstGeom>
          <a:noFill/>
          <a:ln>
            <a:noFill/>
          </a:ln>
        </p:spPr>
      </p:pic>
      <p:pic>
        <p:nvPicPr>
          <p:cNvPr id="123" name="Google Shape;123;p19" title="logo-ahs.png"/>
          <p:cNvPicPr preferRelativeResize="0"/>
          <p:nvPr/>
        </p:nvPicPr>
        <p:blipFill>
          <a:blip r:embed="rId5">
            <a:alphaModFix/>
          </a:blip>
          <a:stretch>
            <a:fillRect/>
          </a:stretch>
        </p:blipFill>
        <p:spPr>
          <a:xfrm>
            <a:off x="0" y="4666325"/>
            <a:ext cx="887775" cy="477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0"/>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200" b="1">
                <a:solidFill>
                  <a:schemeClr val="lt1"/>
                </a:solidFill>
                <a:latin typeface="Finlandica"/>
                <a:ea typeface="Finlandica"/>
                <a:cs typeface="Finlandica"/>
                <a:sym typeface="Finlandica"/>
              </a:rPr>
              <a:t>Knowledge base development</a:t>
            </a:r>
            <a:endParaRPr sz="2200" b="1">
              <a:solidFill>
                <a:schemeClr val="lt1"/>
              </a:solidFill>
              <a:latin typeface="Finlandica"/>
              <a:ea typeface="Finlandica"/>
              <a:cs typeface="Finlandica"/>
              <a:sym typeface="Finlandica"/>
            </a:endParaRPr>
          </a:p>
        </p:txBody>
      </p:sp>
      <p:sp>
        <p:nvSpPr>
          <p:cNvPr id="129" name="Google Shape;129;p20"/>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0" name="Google Shape;130;p20"/>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1" name="Google Shape;131;p20"/>
          <p:cNvSpPr txBox="1"/>
          <p:nvPr/>
        </p:nvSpPr>
        <p:spPr>
          <a:xfrm>
            <a:off x="148800" y="806550"/>
            <a:ext cx="8855100" cy="6771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chemeClr val="dk1"/>
              </a:buClr>
              <a:buSzPts val="1600"/>
              <a:buFont typeface="Finlandica"/>
              <a:buChar char="●"/>
            </a:pPr>
            <a:r>
              <a:rPr lang="en" sz="1600">
                <a:solidFill>
                  <a:schemeClr val="dk1"/>
                </a:solidFill>
                <a:latin typeface="Finlandica"/>
                <a:ea typeface="Finlandica"/>
                <a:cs typeface="Finlandica"/>
                <a:sym typeface="Finlandica"/>
              </a:rPr>
              <a:t>Extracted API terms were mapped to OMOP Concepts using the OHDSI ATHENA data dump (August 2024) and the </a:t>
            </a:r>
            <a:r>
              <a:rPr lang="en" sz="1600" u="sng">
                <a:solidFill>
                  <a:srgbClr val="5599FE"/>
                </a:solidFill>
                <a:latin typeface="Finlandica"/>
                <a:ea typeface="Finlandica"/>
                <a:cs typeface="Finlandica"/>
                <a:sym typeface="Finlandica"/>
                <a:hlinkClick r:id="rId3">
                  <a:extLst>
                    <a:ext uri="{A12FA001-AC4F-418D-AE19-62706E023703}">
                      <ahyp:hlinkClr xmlns:ahyp="http://schemas.microsoft.com/office/drawing/2018/hyperlinkcolor" val="tx"/>
                    </a:ext>
                  </a:extLst>
                </a:hlinkClick>
              </a:rPr>
              <a:t>ATHENA web interface</a:t>
            </a:r>
            <a:r>
              <a:rPr lang="en" sz="1600">
                <a:solidFill>
                  <a:schemeClr val="dk1"/>
                </a:solidFill>
                <a:latin typeface="Finlandica"/>
                <a:ea typeface="Finlandica"/>
                <a:cs typeface="Finlandica"/>
                <a:sym typeface="Finlandica"/>
              </a:rPr>
              <a:t> for manual annotation.</a:t>
            </a:r>
            <a:endParaRPr sz="1600">
              <a:solidFill>
                <a:schemeClr val="dk1"/>
              </a:solidFill>
              <a:latin typeface="Finlandica"/>
              <a:ea typeface="Finlandica"/>
              <a:cs typeface="Finlandica"/>
              <a:sym typeface="Finlandica"/>
            </a:endParaRPr>
          </a:p>
        </p:txBody>
      </p:sp>
      <p:pic>
        <p:nvPicPr>
          <p:cNvPr id="132" name="Google Shape;132;p20"/>
          <p:cNvPicPr preferRelativeResize="0"/>
          <p:nvPr/>
        </p:nvPicPr>
        <p:blipFill>
          <a:blip r:embed="rId4">
            <a:alphaModFix/>
          </a:blip>
          <a:stretch>
            <a:fillRect/>
          </a:stretch>
        </p:blipFill>
        <p:spPr>
          <a:xfrm>
            <a:off x="152400" y="1636050"/>
            <a:ext cx="8839204" cy="2533502"/>
          </a:xfrm>
          <a:prstGeom prst="rect">
            <a:avLst/>
          </a:prstGeom>
          <a:noFill/>
          <a:ln>
            <a:noFill/>
          </a:ln>
        </p:spPr>
      </p:pic>
      <p:pic>
        <p:nvPicPr>
          <p:cNvPr id="133" name="Google Shape;133;p20" title="logo-ahs.png"/>
          <p:cNvPicPr preferRelativeResize="0"/>
          <p:nvPr/>
        </p:nvPicPr>
        <p:blipFill>
          <a:blip r:embed="rId5">
            <a:alphaModFix/>
          </a:blip>
          <a:stretch>
            <a:fillRect/>
          </a:stretch>
        </p:blipFill>
        <p:spPr>
          <a:xfrm>
            <a:off x="0" y="4666325"/>
            <a:ext cx="887775" cy="477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1"/>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200" b="1">
                <a:solidFill>
                  <a:schemeClr val="lt1"/>
                </a:solidFill>
                <a:latin typeface="Finlandica"/>
                <a:ea typeface="Finlandica"/>
                <a:cs typeface="Finlandica"/>
                <a:sym typeface="Finlandica"/>
              </a:rPr>
              <a:t>Intersection of NRCeS OMOP and </a:t>
            </a:r>
            <a:r>
              <a:rPr lang="en" sz="2200" b="1">
                <a:solidFill>
                  <a:schemeClr val="lt1"/>
                </a:solidFill>
                <a:uFill>
                  <a:noFill/>
                </a:uFill>
                <a:latin typeface="Finlandica"/>
                <a:ea typeface="Finlandica"/>
                <a:cs typeface="Finlandica"/>
                <a:sym typeface="Finlandica"/>
                <a:hlinkClick r:id="rId3">
                  <a:extLst>
                    <a:ext uri="{A12FA001-AC4F-418D-AE19-62706E023703}">
                      <ahyp:hlinkClr xmlns:ahyp="http://schemas.microsoft.com/office/drawing/2018/hyperlinkcolor" val="tx"/>
                    </a:ext>
                  </a:extLst>
                </a:hlinkClick>
              </a:rPr>
              <a:t>1mg.com</a:t>
            </a:r>
            <a:r>
              <a:rPr lang="en" sz="2200" b="1">
                <a:solidFill>
                  <a:schemeClr val="lt1"/>
                </a:solidFill>
                <a:latin typeface="Finlandica"/>
                <a:ea typeface="Finlandica"/>
                <a:cs typeface="Finlandica"/>
                <a:sym typeface="Finlandica"/>
              </a:rPr>
              <a:t> OMOP concepts</a:t>
            </a:r>
            <a:endParaRPr sz="2200" b="1">
              <a:solidFill>
                <a:schemeClr val="lt1"/>
              </a:solidFill>
              <a:latin typeface="Finlandica"/>
              <a:ea typeface="Finlandica"/>
              <a:cs typeface="Finlandica"/>
              <a:sym typeface="Finlandica"/>
            </a:endParaRPr>
          </a:p>
        </p:txBody>
      </p:sp>
      <p:sp>
        <p:nvSpPr>
          <p:cNvPr id="139" name="Google Shape;139;p21"/>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0" name="Google Shape;140;p21"/>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 name="Google Shape;141;p21"/>
          <p:cNvSpPr txBox="1"/>
          <p:nvPr/>
        </p:nvSpPr>
        <p:spPr>
          <a:xfrm>
            <a:off x="4775450" y="1658775"/>
            <a:ext cx="40467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Finlandica"/>
                <a:ea typeface="Finlandica"/>
                <a:cs typeface="Finlandica"/>
                <a:sym typeface="Finlandica"/>
              </a:rPr>
              <a:t>This venn diagram showcases intersection between mapped OMOP Concepts from NRCeS CDCI Substances and extracted API terms.</a:t>
            </a:r>
            <a:endParaRPr sz="1800">
              <a:solidFill>
                <a:schemeClr val="dk1"/>
              </a:solidFill>
              <a:latin typeface="Finlandica"/>
              <a:ea typeface="Finlandica"/>
              <a:cs typeface="Finlandica"/>
              <a:sym typeface="Finlandica"/>
            </a:endParaRPr>
          </a:p>
        </p:txBody>
      </p:sp>
      <p:pic>
        <p:nvPicPr>
          <p:cNvPr id="142" name="Google Shape;142;p21"/>
          <p:cNvPicPr preferRelativeResize="0"/>
          <p:nvPr/>
        </p:nvPicPr>
        <p:blipFill>
          <a:blip r:embed="rId4">
            <a:alphaModFix/>
          </a:blip>
          <a:stretch>
            <a:fillRect/>
          </a:stretch>
        </p:blipFill>
        <p:spPr>
          <a:xfrm>
            <a:off x="152400" y="722400"/>
            <a:ext cx="4582348" cy="3968725"/>
          </a:xfrm>
          <a:prstGeom prst="rect">
            <a:avLst/>
          </a:prstGeom>
          <a:noFill/>
          <a:ln>
            <a:noFill/>
          </a:ln>
        </p:spPr>
      </p:pic>
      <p:pic>
        <p:nvPicPr>
          <p:cNvPr id="143" name="Google Shape;143;p21" title="logo-ahs.png"/>
          <p:cNvPicPr preferRelativeResize="0"/>
          <p:nvPr/>
        </p:nvPicPr>
        <p:blipFill>
          <a:blip r:embed="rId5">
            <a:alphaModFix/>
          </a:blip>
          <a:stretch>
            <a:fillRect/>
          </a:stretch>
        </p:blipFill>
        <p:spPr>
          <a:xfrm>
            <a:off x="0" y="4666325"/>
            <a:ext cx="887775" cy="477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2"/>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200" b="1">
                <a:solidFill>
                  <a:schemeClr val="lt1"/>
                </a:solidFill>
                <a:latin typeface="Finlandica"/>
                <a:ea typeface="Finlandica"/>
                <a:cs typeface="Finlandica"/>
                <a:sym typeface="Finlandica"/>
              </a:rPr>
              <a:t>Linking to Global Databases</a:t>
            </a:r>
            <a:endParaRPr sz="2200" b="1">
              <a:solidFill>
                <a:schemeClr val="lt1"/>
              </a:solidFill>
              <a:latin typeface="Finlandica"/>
              <a:ea typeface="Finlandica"/>
              <a:cs typeface="Finlandica"/>
              <a:sym typeface="Finlandica"/>
            </a:endParaRPr>
          </a:p>
        </p:txBody>
      </p:sp>
      <p:sp>
        <p:nvSpPr>
          <p:cNvPr id="149" name="Google Shape;149;p22"/>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 name="Google Shape;150;p22"/>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 name="Google Shape;151;p22"/>
          <p:cNvSpPr txBox="1"/>
          <p:nvPr/>
        </p:nvSpPr>
        <p:spPr>
          <a:xfrm>
            <a:off x="311700" y="824100"/>
            <a:ext cx="4966200" cy="37449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Clr>
                <a:srgbClr val="000000"/>
              </a:buClr>
              <a:buSzPts val="1800"/>
              <a:buFont typeface="Finlandica"/>
              <a:buChar char="●"/>
            </a:pPr>
            <a:r>
              <a:rPr lang="en" sz="1800" b="1">
                <a:solidFill>
                  <a:schemeClr val="dk1"/>
                </a:solidFill>
                <a:latin typeface="Finlandica"/>
                <a:ea typeface="Finlandica"/>
                <a:cs typeface="Finlandica"/>
                <a:sym typeface="Finlandica"/>
              </a:rPr>
              <a:t>FDA's Global Substance Registration System (GSRS)</a:t>
            </a:r>
            <a:r>
              <a:rPr lang="en" sz="1800">
                <a:solidFill>
                  <a:schemeClr val="dk1"/>
                </a:solidFill>
                <a:latin typeface="Finlandica"/>
                <a:ea typeface="Finlandica"/>
                <a:cs typeface="Finlandica"/>
                <a:sym typeface="Finlandica"/>
              </a:rPr>
              <a:t> enables accurate exchange of information on substances through their Unique Ingredient Identifiers (UNIIs)</a:t>
            </a:r>
            <a:endParaRPr sz="1800">
              <a:latin typeface="Finlandica"/>
              <a:ea typeface="Finlandica"/>
              <a:cs typeface="Finlandica"/>
              <a:sym typeface="Finlandica"/>
            </a:endParaRPr>
          </a:p>
          <a:p>
            <a:pPr marL="457200" lvl="0" indent="-342900" algn="l" rtl="0">
              <a:lnSpc>
                <a:spcPct val="115000"/>
              </a:lnSpc>
              <a:spcBef>
                <a:spcPts val="0"/>
              </a:spcBef>
              <a:spcAft>
                <a:spcPts val="0"/>
              </a:spcAft>
              <a:buClr>
                <a:srgbClr val="000000"/>
              </a:buClr>
              <a:buSzPts val="1800"/>
              <a:buFont typeface="Finlandica"/>
              <a:buChar char="●"/>
            </a:pPr>
            <a:r>
              <a:rPr lang="en" sz="1800">
                <a:solidFill>
                  <a:srgbClr val="000000"/>
                </a:solidFill>
                <a:latin typeface="Finlandica"/>
                <a:ea typeface="Finlandica"/>
                <a:cs typeface="Finlandica"/>
                <a:sym typeface="Finlandica"/>
              </a:rPr>
              <a:t>The</a:t>
            </a:r>
            <a:r>
              <a:rPr lang="en" sz="1800">
                <a:latin typeface="Finlandica"/>
                <a:ea typeface="Finlandica"/>
                <a:cs typeface="Finlandica"/>
                <a:sym typeface="Finlandica"/>
              </a:rPr>
              <a:t> </a:t>
            </a:r>
            <a:r>
              <a:rPr lang="en" sz="1800" b="1">
                <a:solidFill>
                  <a:srgbClr val="000000"/>
                </a:solidFill>
                <a:latin typeface="Finlandica"/>
                <a:ea typeface="Finlandica"/>
                <a:cs typeface="Finlandica"/>
                <a:sym typeface="Finlandica"/>
              </a:rPr>
              <a:t>UNII GSRS Records</a:t>
            </a:r>
            <a:r>
              <a:rPr lang="en" sz="1800">
                <a:solidFill>
                  <a:srgbClr val="000000"/>
                </a:solidFill>
                <a:latin typeface="Finlandica"/>
                <a:ea typeface="Finlandica"/>
                <a:cs typeface="Finlandica"/>
                <a:sym typeface="Finlandica"/>
              </a:rPr>
              <a:t> file consists of unique identifiers from different Chemical, Biomedical and Taxonomic databases.</a:t>
            </a:r>
            <a:endParaRPr sz="1800">
              <a:solidFill>
                <a:srgbClr val="000000"/>
              </a:solidFill>
              <a:latin typeface="Finlandica"/>
              <a:ea typeface="Finlandica"/>
              <a:cs typeface="Finlandica"/>
              <a:sym typeface="Finlandica"/>
            </a:endParaRPr>
          </a:p>
          <a:p>
            <a:pPr marL="457200" lvl="0" indent="-342900" algn="l" rtl="0">
              <a:lnSpc>
                <a:spcPct val="115000"/>
              </a:lnSpc>
              <a:spcBef>
                <a:spcPts val="0"/>
              </a:spcBef>
              <a:spcAft>
                <a:spcPts val="0"/>
              </a:spcAft>
              <a:buClr>
                <a:srgbClr val="000000"/>
              </a:buClr>
              <a:buSzPts val="1800"/>
              <a:buFont typeface="Finlandica"/>
              <a:buChar char="●"/>
            </a:pPr>
            <a:r>
              <a:rPr lang="en" sz="1800">
                <a:solidFill>
                  <a:srgbClr val="000000"/>
                </a:solidFill>
                <a:latin typeface="Finlandica"/>
                <a:ea typeface="Finlandica"/>
                <a:cs typeface="Finlandica"/>
                <a:sym typeface="Finlandica"/>
              </a:rPr>
              <a:t>The following figure showcases the different Identifiers collated in the </a:t>
            </a:r>
            <a:r>
              <a:rPr lang="en" sz="1800" b="1">
                <a:solidFill>
                  <a:srgbClr val="000000"/>
                </a:solidFill>
                <a:latin typeface="Finlandica"/>
                <a:ea typeface="Finlandica"/>
                <a:cs typeface="Finlandica"/>
                <a:sym typeface="Finlandica"/>
              </a:rPr>
              <a:t>UNII GSRS Records</a:t>
            </a:r>
            <a:r>
              <a:rPr lang="en" sz="1800">
                <a:solidFill>
                  <a:srgbClr val="000000"/>
                </a:solidFill>
                <a:latin typeface="Finlandica"/>
                <a:ea typeface="Finlandica"/>
                <a:cs typeface="Finlandica"/>
                <a:sym typeface="Finlandica"/>
              </a:rPr>
              <a:t> file.</a:t>
            </a:r>
            <a:endParaRPr sz="1800">
              <a:solidFill>
                <a:srgbClr val="000000"/>
              </a:solidFill>
              <a:latin typeface="Finlandica"/>
              <a:ea typeface="Finlandica"/>
              <a:cs typeface="Finlandica"/>
              <a:sym typeface="Finlandica"/>
            </a:endParaRPr>
          </a:p>
        </p:txBody>
      </p:sp>
      <p:pic>
        <p:nvPicPr>
          <p:cNvPr id="152" name="Google Shape;152;p22"/>
          <p:cNvPicPr preferRelativeResize="0"/>
          <p:nvPr/>
        </p:nvPicPr>
        <p:blipFill>
          <a:blip r:embed="rId3">
            <a:alphaModFix/>
          </a:blip>
          <a:stretch>
            <a:fillRect/>
          </a:stretch>
        </p:blipFill>
        <p:spPr>
          <a:xfrm>
            <a:off x="5187151" y="657675"/>
            <a:ext cx="3724026" cy="4400901"/>
          </a:xfrm>
          <a:prstGeom prst="rect">
            <a:avLst/>
          </a:prstGeom>
          <a:noFill/>
          <a:ln>
            <a:noFill/>
          </a:ln>
        </p:spPr>
      </p:pic>
      <p:pic>
        <p:nvPicPr>
          <p:cNvPr id="153" name="Google Shape;153;p22" title="logo-ahs.png"/>
          <p:cNvPicPr preferRelativeResize="0"/>
          <p:nvPr/>
        </p:nvPicPr>
        <p:blipFill>
          <a:blip r:embed="rId4">
            <a:alphaModFix/>
          </a:blip>
          <a:stretch>
            <a:fillRect/>
          </a:stretch>
        </p:blipFill>
        <p:spPr>
          <a:xfrm>
            <a:off x="0" y="4666325"/>
            <a:ext cx="887775" cy="477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3"/>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200" b="1">
                <a:solidFill>
                  <a:schemeClr val="lt1"/>
                </a:solidFill>
                <a:latin typeface="Finlandica"/>
                <a:ea typeface="Finlandica"/>
                <a:cs typeface="Finlandica"/>
                <a:sym typeface="Finlandica"/>
              </a:rPr>
              <a:t>Linking to Global Databases</a:t>
            </a:r>
            <a:endParaRPr sz="2200" b="1">
              <a:solidFill>
                <a:schemeClr val="lt1"/>
              </a:solidFill>
              <a:latin typeface="Finlandica"/>
              <a:ea typeface="Finlandica"/>
              <a:cs typeface="Finlandica"/>
              <a:sym typeface="Finlandica"/>
            </a:endParaRPr>
          </a:p>
        </p:txBody>
      </p:sp>
      <p:sp>
        <p:nvSpPr>
          <p:cNvPr id="159" name="Google Shape;159;p23"/>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 name="Google Shape;160;p23"/>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61" name="Google Shape;161;p23"/>
          <p:cNvPicPr preferRelativeResize="0"/>
          <p:nvPr/>
        </p:nvPicPr>
        <p:blipFill>
          <a:blip r:embed="rId3">
            <a:alphaModFix/>
          </a:blip>
          <a:stretch>
            <a:fillRect/>
          </a:stretch>
        </p:blipFill>
        <p:spPr>
          <a:xfrm>
            <a:off x="148800" y="657675"/>
            <a:ext cx="4422026" cy="3938376"/>
          </a:xfrm>
          <a:prstGeom prst="rect">
            <a:avLst/>
          </a:prstGeom>
          <a:noFill/>
          <a:ln>
            <a:noFill/>
          </a:ln>
        </p:spPr>
      </p:pic>
      <p:pic>
        <p:nvPicPr>
          <p:cNvPr id="162" name="Google Shape;162;p23"/>
          <p:cNvPicPr preferRelativeResize="0"/>
          <p:nvPr/>
        </p:nvPicPr>
        <p:blipFill>
          <a:blip r:embed="rId4">
            <a:alphaModFix/>
          </a:blip>
          <a:stretch>
            <a:fillRect/>
          </a:stretch>
        </p:blipFill>
        <p:spPr>
          <a:xfrm>
            <a:off x="4450725" y="657675"/>
            <a:ext cx="4630200" cy="3938375"/>
          </a:xfrm>
          <a:prstGeom prst="rect">
            <a:avLst/>
          </a:prstGeom>
          <a:noFill/>
          <a:ln>
            <a:noFill/>
          </a:ln>
        </p:spPr>
      </p:pic>
      <p:pic>
        <p:nvPicPr>
          <p:cNvPr id="163" name="Google Shape;163;p23" title="logo-ahs.png"/>
          <p:cNvPicPr preferRelativeResize="0"/>
          <p:nvPr/>
        </p:nvPicPr>
        <p:blipFill>
          <a:blip r:embed="rId5">
            <a:alphaModFix/>
          </a:blip>
          <a:stretch>
            <a:fillRect/>
          </a:stretch>
        </p:blipFill>
        <p:spPr>
          <a:xfrm>
            <a:off x="0" y="4666325"/>
            <a:ext cx="887775" cy="477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4"/>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200" b="1">
                <a:solidFill>
                  <a:schemeClr val="lt1"/>
                </a:solidFill>
                <a:latin typeface="Finlandica"/>
                <a:ea typeface="Finlandica"/>
                <a:cs typeface="Finlandica"/>
                <a:sym typeface="Finlandica"/>
              </a:rPr>
              <a:t>WHO AWaRe classification of antibiotics</a:t>
            </a:r>
            <a:endParaRPr sz="2200" b="1">
              <a:solidFill>
                <a:schemeClr val="lt1"/>
              </a:solidFill>
              <a:latin typeface="Finlandica"/>
              <a:ea typeface="Finlandica"/>
              <a:cs typeface="Finlandica"/>
              <a:sym typeface="Finlandica"/>
            </a:endParaRPr>
          </a:p>
        </p:txBody>
      </p:sp>
      <p:sp>
        <p:nvSpPr>
          <p:cNvPr id="169" name="Google Shape;169;p24"/>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 name="Google Shape;170;p24"/>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 name="Google Shape;171;p24"/>
          <p:cNvSpPr txBox="1"/>
          <p:nvPr/>
        </p:nvSpPr>
        <p:spPr>
          <a:xfrm>
            <a:off x="148800" y="683825"/>
            <a:ext cx="8855100" cy="36822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Finlandica"/>
              <a:buChar char="●"/>
            </a:pPr>
            <a:r>
              <a:rPr lang="en" sz="1800">
                <a:solidFill>
                  <a:schemeClr val="dk1"/>
                </a:solidFill>
                <a:latin typeface="Finlandica"/>
                <a:ea typeface="Finlandica"/>
                <a:cs typeface="Finlandica"/>
                <a:sym typeface="Finlandica"/>
              </a:rPr>
              <a:t>The </a:t>
            </a:r>
            <a:r>
              <a:rPr lang="en" sz="1800" b="1">
                <a:solidFill>
                  <a:schemeClr val="dk1"/>
                </a:solidFill>
                <a:latin typeface="Finlandica"/>
                <a:ea typeface="Finlandica"/>
                <a:cs typeface="Finlandica"/>
                <a:sym typeface="Finlandica"/>
              </a:rPr>
              <a:t>AWaRe (Access, Watch, Reserve) classification of antibiotics</a:t>
            </a:r>
            <a:r>
              <a:rPr lang="en" sz="1800">
                <a:solidFill>
                  <a:schemeClr val="dk1"/>
                </a:solidFill>
                <a:latin typeface="Finlandica"/>
                <a:ea typeface="Finlandica"/>
                <a:cs typeface="Finlandica"/>
                <a:sym typeface="Finlandica"/>
              </a:rPr>
              <a:t> was developed in 2017 by the WHO Expert Committee on Selection and Use of Essential Medicines as a tool to support antibiotic stewardship efforts</a:t>
            </a:r>
            <a:endParaRPr sz="1800">
              <a:solidFill>
                <a:schemeClr val="dk1"/>
              </a:solidFill>
              <a:latin typeface="Finlandica"/>
              <a:ea typeface="Finlandica"/>
              <a:cs typeface="Finlandica"/>
              <a:sym typeface="Finlandica"/>
            </a:endParaRPr>
          </a:p>
          <a:p>
            <a:pPr marL="457200" lvl="0" indent="-342900" algn="l" rtl="0">
              <a:spcBef>
                <a:spcPts val="0"/>
              </a:spcBef>
              <a:spcAft>
                <a:spcPts val="0"/>
              </a:spcAft>
              <a:buClr>
                <a:schemeClr val="dk1"/>
              </a:buClr>
              <a:buSzPts val="1800"/>
              <a:buFont typeface="Finlandica"/>
              <a:buChar char="●"/>
            </a:pPr>
            <a:r>
              <a:rPr lang="en" sz="1800">
                <a:solidFill>
                  <a:schemeClr val="dk1"/>
                </a:solidFill>
                <a:latin typeface="Finlandica"/>
                <a:ea typeface="Finlandica"/>
                <a:cs typeface="Finlandica"/>
                <a:sym typeface="Finlandica"/>
              </a:rPr>
              <a:t>The classification of antibiotics is based on their susceptibility to inducing antimicrobial resistance, with Access antibiotics being the least susceptible and Reserve antibiotics being the most susceptible.</a:t>
            </a:r>
            <a:endParaRPr sz="1800">
              <a:solidFill>
                <a:schemeClr val="dk1"/>
              </a:solidFill>
              <a:latin typeface="Finlandica"/>
              <a:ea typeface="Finlandica"/>
              <a:cs typeface="Finlandica"/>
              <a:sym typeface="Finlandica"/>
            </a:endParaRPr>
          </a:p>
          <a:p>
            <a:pPr marL="457200" lvl="0" indent="-342900" algn="l" rtl="0">
              <a:spcBef>
                <a:spcPts val="0"/>
              </a:spcBef>
              <a:spcAft>
                <a:spcPts val="0"/>
              </a:spcAft>
              <a:buClr>
                <a:schemeClr val="dk1"/>
              </a:buClr>
              <a:buSzPts val="1800"/>
              <a:buFont typeface="Finlandica"/>
              <a:buChar char="●"/>
            </a:pPr>
            <a:r>
              <a:rPr lang="en" sz="1800">
                <a:solidFill>
                  <a:schemeClr val="dk1"/>
                </a:solidFill>
                <a:latin typeface="Finlandica"/>
                <a:ea typeface="Finlandica"/>
                <a:cs typeface="Finlandica"/>
                <a:sym typeface="Finlandica"/>
              </a:rPr>
              <a:t>The 2025 AWaRe antibiotics list was mapped to OMOP Standard Concepts, and then these were mapped directly to the </a:t>
            </a:r>
            <a:r>
              <a:rPr lang="en" sz="1800" u="sng">
                <a:solidFill>
                  <a:schemeClr val="hlink"/>
                </a:solidFill>
                <a:latin typeface="Finlandica"/>
                <a:ea typeface="Finlandica"/>
                <a:cs typeface="Finlandica"/>
                <a:sym typeface="Finlandica"/>
                <a:hlinkClick r:id="rId3"/>
              </a:rPr>
              <a:t>1mg.com</a:t>
            </a:r>
            <a:r>
              <a:rPr lang="en" sz="1800">
                <a:solidFill>
                  <a:schemeClr val="dk1"/>
                </a:solidFill>
                <a:latin typeface="Finlandica"/>
                <a:ea typeface="Finlandica"/>
                <a:cs typeface="Finlandica"/>
                <a:sym typeface="Finlandica"/>
              </a:rPr>
              <a:t> extracted brand drugs.</a:t>
            </a:r>
            <a:endParaRPr sz="1800">
              <a:solidFill>
                <a:schemeClr val="dk1"/>
              </a:solidFill>
              <a:latin typeface="Finlandica"/>
              <a:ea typeface="Finlandica"/>
              <a:cs typeface="Finlandica"/>
              <a:sym typeface="Finlandica"/>
            </a:endParaRPr>
          </a:p>
        </p:txBody>
      </p:sp>
      <p:graphicFrame>
        <p:nvGraphicFramePr>
          <p:cNvPr id="172" name="Google Shape;172;p24"/>
          <p:cNvGraphicFramePr/>
          <p:nvPr/>
        </p:nvGraphicFramePr>
        <p:xfrm>
          <a:off x="1104900" y="3260775"/>
          <a:ext cx="7239000" cy="914340"/>
        </p:xfrm>
        <a:graphic>
          <a:graphicData uri="http://schemas.openxmlformats.org/drawingml/2006/table">
            <a:tbl>
              <a:tblPr>
                <a:noFill/>
                <a:tableStyleId>{B6C723EE-7E41-4969-A946-6D5515E56991}</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0">
                <a:tc>
                  <a:txBody>
                    <a:bodyPr/>
                    <a:lstStyle/>
                    <a:p>
                      <a:pPr marL="0" lvl="0" indent="0" algn="ctr" rtl="0">
                        <a:spcBef>
                          <a:spcPts val="0"/>
                        </a:spcBef>
                        <a:spcAft>
                          <a:spcPts val="0"/>
                        </a:spcAft>
                        <a:buNone/>
                      </a:pPr>
                      <a:r>
                        <a:rPr lang="en" sz="1800">
                          <a:solidFill>
                            <a:schemeClr val="dk1"/>
                          </a:solidFill>
                          <a:latin typeface="Finlandica"/>
                          <a:ea typeface="Finlandica"/>
                          <a:cs typeface="Finlandica"/>
                          <a:sym typeface="Finlandica"/>
                        </a:rPr>
                        <a:t>Access</a:t>
                      </a:r>
                      <a:endParaRPr sz="1800">
                        <a:solidFill>
                          <a:schemeClr val="dk1"/>
                        </a:solidFill>
                        <a:latin typeface="Finlandica"/>
                        <a:ea typeface="Finlandica"/>
                        <a:cs typeface="Finlandica"/>
                        <a:sym typeface="Finlandica"/>
                      </a:endParaRPr>
                    </a:p>
                  </a:txBody>
                  <a:tcPr marL="91425" marR="91425" marT="91425" marB="91425">
                    <a:lnL w="19050" cap="flat" cmpd="sng">
                      <a:solidFill>
                        <a:srgbClr val="012257"/>
                      </a:solidFill>
                      <a:prstDash val="solid"/>
                      <a:round/>
                      <a:headEnd type="none" w="sm" len="sm"/>
                      <a:tailEnd type="none" w="sm" len="sm"/>
                    </a:lnL>
                    <a:lnR w="19050" cap="flat" cmpd="sng">
                      <a:solidFill>
                        <a:srgbClr val="012257"/>
                      </a:solidFill>
                      <a:prstDash val="solid"/>
                      <a:round/>
                      <a:headEnd type="none" w="sm" len="sm"/>
                      <a:tailEnd type="none" w="sm" len="sm"/>
                    </a:lnR>
                    <a:lnT w="19050" cap="flat" cmpd="sng">
                      <a:solidFill>
                        <a:srgbClr val="012257"/>
                      </a:solidFill>
                      <a:prstDash val="solid"/>
                      <a:round/>
                      <a:headEnd type="none" w="sm" len="sm"/>
                      <a:tailEnd type="none" w="sm" len="sm"/>
                    </a:lnT>
                    <a:lnB w="19050" cap="flat" cmpd="sng">
                      <a:solidFill>
                        <a:srgbClr val="012257"/>
                      </a:solidFill>
                      <a:prstDash val="solid"/>
                      <a:round/>
                      <a:headEnd type="none" w="sm" len="sm"/>
                      <a:tailEnd type="none" w="sm" len="sm"/>
                    </a:lnB>
                  </a:tcPr>
                </a:tc>
                <a:tc>
                  <a:txBody>
                    <a:bodyPr/>
                    <a:lstStyle/>
                    <a:p>
                      <a:pPr marL="0" lvl="0" indent="0" algn="ctr" rtl="0">
                        <a:spcBef>
                          <a:spcPts val="0"/>
                        </a:spcBef>
                        <a:spcAft>
                          <a:spcPts val="0"/>
                        </a:spcAft>
                        <a:buNone/>
                      </a:pPr>
                      <a:r>
                        <a:rPr lang="en" sz="1800">
                          <a:solidFill>
                            <a:schemeClr val="dk1"/>
                          </a:solidFill>
                          <a:latin typeface="Finlandica"/>
                          <a:ea typeface="Finlandica"/>
                          <a:cs typeface="Finlandica"/>
                          <a:sym typeface="Finlandica"/>
                        </a:rPr>
                        <a:t>Watch</a:t>
                      </a:r>
                      <a:endParaRPr sz="1800">
                        <a:solidFill>
                          <a:schemeClr val="dk1"/>
                        </a:solidFill>
                        <a:latin typeface="Finlandica"/>
                        <a:ea typeface="Finlandica"/>
                        <a:cs typeface="Finlandica"/>
                        <a:sym typeface="Finlandica"/>
                      </a:endParaRPr>
                    </a:p>
                  </a:txBody>
                  <a:tcPr marL="91425" marR="91425" marT="91425" marB="91425">
                    <a:lnL w="19050" cap="flat" cmpd="sng">
                      <a:solidFill>
                        <a:srgbClr val="012257"/>
                      </a:solidFill>
                      <a:prstDash val="solid"/>
                      <a:round/>
                      <a:headEnd type="none" w="sm" len="sm"/>
                      <a:tailEnd type="none" w="sm" len="sm"/>
                    </a:lnL>
                    <a:lnR w="19050" cap="flat" cmpd="sng">
                      <a:solidFill>
                        <a:srgbClr val="012257"/>
                      </a:solidFill>
                      <a:prstDash val="solid"/>
                      <a:round/>
                      <a:headEnd type="none" w="sm" len="sm"/>
                      <a:tailEnd type="none" w="sm" len="sm"/>
                    </a:lnR>
                    <a:lnT w="19050" cap="flat" cmpd="sng">
                      <a:solidFill>
                        <a:srgbClr val="012257"/>
                      </a:solidFill>
                      <a:prstDash val="solid"/>
                      <a:round/>
                      <a:headEnd type="none" w="sm" len="sm"/>
                      <a:tailEnd type="none" w="sm" len="sm"/>
                    </a:lnT>
                    <a:lnB w="19050" cap="flat" cmpd="sng">
                      <a:solidFill>
                        <a:srgbClr val="012257"/>
                      </a:solidFill>
                      <a:prstDash val="solid"/>
                      <a:round/>
                      <a:headEnd type="none" w="sm" len="sm"/>
                      <a:tailEnd type="none" w="sm" len="sm"/>
                    </a:lnB>
                  </a:tcPr>
                </a:tc>
                <a:tc>
                  <a:txBody>
                    <a:bodyPr/>
                    <a:lstStyle/>
                    <a:p>
                      <a:pPr marL="0" lvl="0" indent="0" algn="ctr" rtl="0">
                        <a:spcBef>
                          <a:spcPts val="0"/>
                        </a:spcBef>
                        <a:spcAft>
                          <a:spcPts val="0"/>
                        </a:spcAft>
                        <a:buNone/>
                      </a:pPr>
                      <a:r>
                        <a:rPr lang="en" sz="1800">
                          <a:solidFill>
                            <a:schemeClr val="dk1"/>
                          </a:solidFill>
                          <a:latin typeface="Finlandica"/>
                          <a:ea typeface="Finlandica"/>
                          <a:cs typeface="Finlandica"/>
                          <a:sym typeface="Finlandica"/>
                        </a:rPr>
                        <a:t>Reserve</a:t>
                      </a:r>
                      <a:endParaRPr sz="1800">
                        <a:solidFill>
                          <a:schemeClr val="dk1"/>
                        </a:solidFill>
                        <a:latin typeface="Finlandica"/>
                        <a:ea typeface="Finlandica"/>
                        <a:cs typeface="Finlandica"/>
                        <a:sym typeface="Finlandica"/>
                      </a:endParaRPr>
                    </a:p>
                  </a:txBody>
                  <a:tcPr marL="91425" marR="91425" marT="91425" marB="91425">
                    <a:lnL w="19050" cap="flat" cmpd="sng">
                      <a:solidFill>
                        <a:srgbClr val="012257"/>
                      </a:solidFill>
                      <a:prstDash val="solid"/>
                      <a:round/>
                      <a:headEnd type="none" w="sm" len="sm"/>
                      <a:tailEnd type="none" w="sm" len="sm"/>
                    </a:lnL>
                    <a:lnR w="19050" cap="flat" cmpd="sng">
                      <a:solidFill>
                        <a:srgbClr val="012257"/>
                      </a:solidFill>
                      <a:prstDash val="solid"/>
                      <a:round/>
                      <a:headEnd type="none" w="sm" len="sm"/>
                      <a:tailEnd type="none" w="sm" len="sm"/>
                    </a:lnR>
                    <a:lnT w="19050" cap="flat" cmpd="sng">
                      <a:solidFill>
                        <a:srgbClr val="012257"/>
                      </a:solidFill>
                      <a:prstDash val="solid"/>
                      <a:round/>
                      <a:headEnd type="none" w="sm" len="sm"/>
                      <a:tailEnd type="none" w="sm" len="sm"/>
                    </a:lnT>
                    <a:lnB w="19050" cap="flat" cmpd="sng">
                      <a:solidFill>
                        <a:srgbClr val="012257"/>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sz="1800">
                          <a:solidFill>
                            <a:schemeClr val="dk1"/>
                          </a:solidFill>
                          <a:latin typeface="Finlandica"/>
                          <a:ea typeface="Finlandica"/>
                          <a:cs typeface="Finlandica"/>
                          <a:sym typeface="Finlandica"/>
                        </a:rPr>
                        <a:t>92</a:t>
                      </a:r>
                      <a:endParaRPr sz="1800">
                        <a:solidFill>
                          <a:schemeClr val="dk1"/>
                        </a:solidFill>
                        <a:latin typeface="Finlandica"/>
                        <a:ea typeface="Finlandica"/>
                        <a:cs typeface="Finlandica"/>
                        <a:sym typeface="Finlandica"/>
                      </a:endParaRPr>
                    </a:p>
                  </a:txBody>
                  <a:tcPr marL="91425" marR="91425" marT="91425" marB="91425">
                    <a:lnL w="19050" cap="flat" cmpd="sng">
                      <a:solidFill>
                        <a:srgbClr val="012257"/>
                      </a:solidFill>
                      <a:prstDash val="solid"/>
                      <a:round/>
                      <a:headEnd type="none" w="sm" len="sm"/>
                      <a:tailEnd type="none" w="sm" len="sm"/>
                    </a:lnL>
                    <a:lnR w="19050" cap="flat" cmpd="sng">
                      <a:solidFill>
                        <a:srgbClr val="012257"/>
                      </a:solidFill>
                      <a:prstDash val="solid"/>
                      <a:round/>
                      <a:headEnd type="none" w="sm" len="sm"/>
                      <a:tailEnd type="none" w="sm" len="sm"/>
                    </a:lnR>
                    <a:lnT w="19050" cap="flat" cmpd="sng">
                      <a:solidFill>
                        <a:srgbClr val="012257"/>
                      </a:solidFill>
                      <a:prstDash val="solid"/>
                      <a:round/>
                      <a:headEnd type="none" w="sm" len="sm"/>
                      <a:tailEnd type="none" w="sm" len="sm"/>
                    </a:lnT>
                    <a:lnB w="19050" cap="flat" cmpd="sng">
                      <a:solidFill>
                        <a:srgbClr val="012257"/>
                      </a:solidFill>
                      <a:prstDash val="solid"/>
                      <a:round/>
                      <a:headEnd type="none" w="sm" len="sm"/>
                      <a:tailEnd type="none" w="sm" len="sm"/>
                    </a:lnB>
                  </a:tcPr>
                </a:tc>
                <a:tc>
                  <a:txBody>
                    <a:bodyPr/>
                    <a:lstStyle/>
                    <a:p>
                      <a:pPr marL="0" lvl="0" indent="0" algn="ctr" rtl="0">
                        <a:spcBef>
                          <a:spcPts val="0"/>
                        </a:spcBef>
                        <a:spcAft>
                          <a:spcPts val="0"/>
                        </a:spcAft>
                        <a:buNone/>
                      </a:pPr>
                      <a:r>
                        <a:rPr lang="en" sz="1800">
                          <a:solidFill>
                            <a:schemeClr val="dk1"/>
                          </a:solidFill>
                          <a:latin typeface="Finlandica"/>
                          <a:ea typeface="Finlandica"/>
                          <a:cs typeface="Finlandica"/>
                          <a:sym typeface="Finlandica"/>
                        </a:rPr>
                        <a:t>146</a:t>
                      </a:r>
                      <a:endParaRPr sz="1800">
                        <a:solidFill>
                          <a:schemeClr val="dk1"/>
                        </a:solidFill>
                        <a:latin typeface="Finlandica"/>
                        <a:ea typeface="Finlandica"/>
                        <a:cs typeface="Finlandica"/>
                        <a:sym typeface="Finlandica"/>
                      </a:endParaRPr>
                    </a:p>
                  </a:txBody>
                  <a:tcPr marL="91425" marR="91425" marT="91425" marB="91425">
                    <a:lnL w="19050" cap="flat" cmpd="sng">
                      <a:solidFill>
                        <a:srgbClr val="012257"/>
                      </a:solidFill>
                      <a:prstDash val="solid"/>
                      <a:round/>
                      <a:headEnd type="none" w="sm" len="sm"/>
                      <a:tailEnd type="none" w="sm" len="sm"/>
                    </a:lnL>
                    <a:lnR w="19050" cap="flat" cmpd="sng">
                      <a:solidFill>
                        <a:srgbClr val="012257"/>
                      </a:solidFill>
                      <a:prstDash val="solid"/>
                      <a:round/>
                      <a:headEnd type="none" w="sm" len="sm"/>
                      <a:tailEnd type="none" w="sm" len="sm"/>
                    </a:lnR>
                    <a:lnT w="19050" cap="flat" cmpd="sng">
                      <a:solidFill>
                        <a:srgbClr val="012257"/>
                      </a:solidFill>
                      <a:prstDash val="solid"/>
                      <a:round/>
                      <a:headEnd type="none" w="sm" len="sm"/>
                      <a:tailEnd type="none" w="sm" len="sm"/>
                    </a:lnT>
                    <a:lnB w="19050" cap="flat" cmpd="sng">
                      <a:solidFill>
                        <a:srgbClr val="012257"/>
                      </a:solidFill>
                      <a:prstDash val="solid"/>
                      <a:round/>
                      <a:headEnd type="none" w="sm" len="sm"/>
                      <a:tailEnd type="none" w="sm" len="sm"/>
                    </a:lnB>
                  </a:tcPr>
                </a:tc>
                <a:tc>
                  <a:txBody>
                    <a:bodyPr/>
                    <a:lstStyle/>
                    <a:p>
                      <a:pPr marL="0" lvl="0" indent="0" algn="ctr" rtl="0">
                        <a:spcBef>
                          <a:spcPts val="0"/>
                        </a:spcBef>
                        <a:spcAft>
                          <a:spcPts val="0"/>
                        </a:spcAft>
                        <a:buNone/>
                      </a:pPr>
                      <a:r>
                        <a:rPr lang="en" sz="1800">
                          <a:solidFill>
                            <a:schemeClr val="dk1"/>
                          </a:solidFill>
                          <a:latin typeface="Finlandica"/>
                          <a:ea typeface="Finlandica"/>
                          <a:cs typeface="Finlandica"/>
                          <a:sym typeface="Finlandica"/>
                        </a:rPr>
                        <a:t>30</a:t>
                      </a:r>
                      <a:endParaRPr sz="1800">
                        <a:solidFill>
                          <a:schemeClr val="dk1"/>
                        </a:solidFill>
                        <a:latin typeface="Finlandica"/>
                        <a:ea typeface="Finlandica"/>
                        <a:cs typeface="Finlandica"/>
                        <a:sym typeface="Finlandica"/>
                      </a:endParaRPr>
                    </a:p>
                  </a:txBody>
                  <a:tcPr marL="91425" marR="91425" marT="91425" marB="91425">
                    <a:lnL w="19050" cap="flat" cmpd="sng">
                      <a:solidFill>
                        <a:srgbClr val="012257"/>
                      </a:solidFill>
                      <a:prstDash val="solid"/>
                      <a:round/>
                      <a:headEnd type="none" w="sm" len="sm"/>
                      <a:tailEnd type="none" w="sm" len="sm"/>
                    </a:lnL>
                    <a:lnR w="19050" cap="flat" cmpd="sng">
                      <a:solidFill>
                        <a:srgbClr val="012257"/>
                      </a:solidFill>
                      <a:prstDash val="solid"/>
                      <a:round/>
                      <a:headEnd type="none" w="sm" len="sm"/>
                      <a:tailEnd type="none" w="sm" len="sm"/>
                    </a:lnR>
                    <a:lnT w="19050" cap="flat" cmpd="sng">
                      <a:solidFill>
                        <a:srgbClr val="012257"/>
                      </a:solidFill>
                      <a:prstDash val="solid"/>
                      <a:round/>
                      <a:headEnd type="none" w="sm" len="sm"/>
                      <a:tailEnd type="none" w="sm" len="sm"/>
                    </a:lnT>
                    <a:lnB w="19050" cap="flat" cmpd="sng">
                      <a:solidFill>
                        <a:srgbClr val="012257"/>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73" name="Google Shape;173;p24"/>
          <p:cNvSpPr txBox="1"/>
          <p:nvPr/>
        </p:nvSpPr>
        <p:spPr>
          <a:xfrm>
            <a:off x="2199450" y="4257825"/>
            <a:ext cx="50499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dk1"/>
                </a:solidFill>
                <a:latin typeface="Finlandica"/>
                <a:ea typeface="Finlandica"/>
                <a:cs typeface="Finlandica"/>
                <a:sym typeface="Finlandica"/>
              </a:rPr>
              <a:t>Table: No. of antibiotics for each AWaRe category</a:t>
            </a:r>
            <a:endParaRPr sz="1600">
              <a:solidFill>
                <a:schemeClr val="dk1"/>
              </a:solidFill>
              <a:latin typeface="Finlandica"/>
              <a:ea typeface="Finlandica"/>
              <a:cs typeface="Finlandica"/>
              <a:sym typeface="Finlandica"/>
            </a:endParaRPr>
          </a:p>
        </p:txBody>
      </p:sp>
      <p:pic>
        <p:nvPicPr>
          <p:cNvPr id="174" name="Google Shape;174;p24" title="logo-ahs.png"/>
          <p:cNvPicPr preferRelativeResize="0"/>
          <p:nvPr/>
        </p:nvPicPr>
        <p:blipFill>
          <a:blip r:embed="rId4">
            <a:alphaModFix/>
          </a:blip>
          <a:stretch>
            <a:fillRect/>
          </a:stretch>
        </p:blipFill>
        <p:spPr>
          <a:xfrm>
            <a:off x="0" y="4666325"/>
            <a:ext cx="887775" cy="477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5"/>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200" b="1">
                <a:solidFill>
                  <a:schemeClr val="lt1"/>
                </a:solidFill>
                <a:latin typeface="Finlandica"/>
                <a:ea typeface="Finlandica"/>
                <a:cs typeface="Finlandica"/>
                <a:sym typeface="Finlandica"/>
              </a:rPr>
              <a:t>WHO AWaRe classification of antibiotics</a:t>
            </a:r>
            <a:endParaRPr sz="2200" b="1">
              <a:solidFill>
                <a:schemeClr val="lt1"/>
              </a:solidFill>
              <a:latin typeface="Finlandica"/>
              <a:ea typeface="Finlandica"/>
              <a:cs typeface="Finlandica"/>
              <a:sym typeface="Finlandica"/>
            </a:endParaRPr>
          </a:p>
        </p:txBody>
      </p:sp>
      <p:sp>
        <p:nvSpPr>
          <p:cNvPr id="180" name="Google Shape;180;p25"/>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1" name="Google Shape;181;p25"/>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 name="Google Shape;182;p25"/>
          <p:cNvSpPr txBox="1"/>
          <p:nvPr/>
        </p:nvSpPr>
        <p:spPr>
          <a:xfrm>
            <a:off x="855125" y="4204900"/>
            <a:ext cx="32469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dk1"/>
                </a:solidFill>
                <a:latin typeface="Finlandica"/>
                <a:ea typeface="Finlandica"/>
                <a:cs typeface="Finlandica"/>
                <a:sym typeface="Finlandica"/>
              </a:rPr>
              <a:t>(i) Top 7 Antibiotics based on number of brand drugs</a:t>
            </a:r>
            <a:endParaRPr sz="1600">
              <a:solidFill>
                <a:schemeClr val="dk1"/>
              </a:solidFill>
              <a:latin typeface="Finlandica"/>
              <a:ea typeface="Finlandica"/>
              <a:cs typeface="Finlandica"/>
              <a:sym typeface="Finlandica"/>
            </a:endParaRPr>
          </a:p>
        </p:txBody>
      </p:sp>
      <p:sp>
        <p:nvSpPr>
          <p:cNvPr id="183" name="Google Shape;183;p25"/>
          <p:cNvSpPr txBox="1"/>
          <p:nvPr/>
        </p:nvSpPr>
        <p:spPr>
          <a:xfrm>
            <a:off x="5080798" y="4235800"/>
            <a:ext cx="37671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dk1"/>
                </a:solidFill>
                <a:latin typeface="Finlandica"/>
                <a:ea typeface="Finlandica"/>
                <a:cs typeface="Finlandica"/>
                <a:sym typeface="Finlandica"/>
              </a:rPr>
              <a:t>(ii) AWaRe antibiotics brand drugs segregated by AWaRe category</a:t>
            </a:r>
            <a:endParaRPr sz="1600">
              <a:solidFill>
                <a:schemeClr val="dk1"/>
              </a:solidFill>
              <a:latin typeface="Finlandica"/>
              <a:ea typeface="Finlandica"/>
              <a:cs typeface="Finlandica"/>
              <a:sym typeface="Finlandica"/>
            </a:endParaRPr>
          </a:p>
        </p:txBody>
      </p:sp>
      <p:pic>
        <p:nvPicPr>
          <p:cNvPr id="184" name="Google Shape;184;p25" title="logo-ahs.png"/>
          <p:cNvPicPr preferRelativeResize="0"/>
          <p:nvPr/>
        </p:nvPicPr>
        <p:blipFill>
          <a:blip r:embed="rId3">
            <a:alphaModFix/>
          </a:blip>
          <a:stretch>
            <a:fillRect/>
          </a:stretch>
        </p:blipFill>
        <p:spPr>
          <a:xfrm>
            <a:off x="0" y="4666325"/>
            <a:ext cx="887775" cy="477175"/>
          </a:xfrm>
          <a:prstGeom prst="rect">
            <a:avLst/>
          </a:prstGeom>
          <a:noFill/>
          <a:ln>
            <a:noFill/>
          </a:ln>
        </p:spPr>
      </p:pic>
      <p:pic>
        <p:nvPicPr>
          <p:cNvPr id="185" name="Google Shape;185;p25"/>
          <p:cNvPicPr preferRelativeResize="0"/>
          <p:nvPr/>
        </p:nvPicPr>
        <p:blipFill>
          <a:blip r:embed="rId4">
            <a:alphaModFix/>
          </a:blip>
          <a:stretch>
            <a:fillRect/>
          </a:stretch>
        </p:blipFill>
        <p:spPr>
          <a:xfrm>
            <a:off x="137600" y="717100"/>
            <a:ext cx="4711501" cy="3518700"/>
          </a:xfrm>
          <a:prstGeom prst="rect">
            <a:avLst/>
          </a:prstGeom>
          <a:noFill/>
          <a:ln>
            <a:noFill/>
          </a:ln>
        </p:spPr>
      </p:pic>
      <p:pic>
        <p:nvPicPr>
          <p:cNvPr id="186" name="Google Shape;186;p25"/>
          <p:cNvPicPr preferRelativeResize="0"/>
          <p:nvPr/>
        </p:nvPicPr>
        <p:blipFill rotWithShape="1">
          <a:blip r:embed="rId5">
            <a:alphaModFix/>
          </a:blip>
          <a:srcRect t="1996" b="9289"/>
          <a:stretch/>
        </p:blipFill>
        <p:spPr>
          <a:xfrm>
            <a:off x="5001513" y="706025"/>
            <a:ext cx="4004876" cy="332527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6"/>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200" b="1">
                <a:solidFill>
                  <a:schemeClr val="lt1"/>
                </a:solidFill>
                <a:latin typeface="Finlandica"/>
                <a:ea typeface="Finlandica"/>
                <a:cs typeface="Finlandica"/>
                <a:sym typeface="Finlandica"/>
              </a:rPr>
              <a:t>Clinical term extraction from unstructured clinical notes</a:t>
            </a:r>
            <a:endParaRPr sz="2200" b="1">
              <a:solidFill>
                <a:schemeClr val="lt1"/>
              </a:solidFill>
              <a:latin typeface="Finlandica"/>
              <a:ea typeface="Finlandica"/>
              <a:cs typeface="Finlandica"/>
              <a:sym typeface="Finlandica"/>
            </a:endParaRPr>
          </a:p>
        </p:txBody>
      </p:sp>
      <p:sp>
        <p:nvSpPr>
          <p:cNvPr id="192" name="Google Shape;192;p26"/>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3" name="Google Shape;193;p26"/>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94" name="Google Shape;194;p26"/>
          <p:cNvPicPr preferRelativeResize="0"/>
          <p:nvPr/>
        </p:nvPicPr>
        <p:blipFill>
          <a:blip r:embed="rId3">
            <a:alphaModFix/>
          </a:blip>
          <a:stretch>
            <a:fillRect/>
          </a:stretch>
        </p:blipFill>
        <p:spPr>
          <a:xfrm>
            <a:off x="309010" y="2820350"/>
            <a:ext cx="8534692" cy="1904476"/>
          </a:xfrm>
          <a:prstGeom prst="rect">
            <a:avLst/>
          </a:prstGeom>
          <a:noFill/>
          <a:ln>
            <a:noFill/>
          </a:ln>
        </p:spPr>
      </p:pic>
      <p:sp>
        <p:nvSpPr>
          <p:cNvPr id="195" name="Google Shape;195;p26"/>
          <p:cNvSpPr txBox="1"/>
          <p:nvPr/>
        </p:nvSpPr>
        <p:spPr>
          <a:xfrm>
            <a:off x="148800" y="806550"/>
            <a:ext cx="8855100" cy="16623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chemeClr val="dk1"/>
              </a:buClr>
              <a:buSzPts val="1600"/>
              <a:buFont typeface="Finlandica"/>
              <a:buChar char="●"/>
            </a:pPr>
            <a:r>
              <a:rPr lang="en" sz="1600">
                <a:solidFill>
                  <a:schemeClr val="dk1"/>
                </a:solidFill>
                <a:latin typeface="Finlandica"/>
                <a:ea typeface="Finlandica"/>
                <a:cs typeface="Finlandica"/>
                <a:sym typeface="Finlandica"/>
              </a:rPr>
              <a:t>The dataset consisted of a total of </a:t>
            </a:r>
            <a:r>
              <a:rPr lang="en" sz="1600" b="1">
                <a:solidFill>
                  <a:schemeClr val="dk1"/>
                </a:solidFill>
                <a:latin typeface="Finlandica"/>
                <a:ea typeface="Finlandica"/>
                <a:cs typeface="Finlandica"/>
                <a:sym typeface="Finlandica"/>
              </a:rPr>
              <a:t>263774</a:t>
            </a:r>
            <a:r>
              <a:rPr lang="en" sz="1600">
                <a:solidFill>
                  <a:schemeClr val="dk1"/>
                </a:solidFill>
                <a:latin typeface="Finlandica"/>
                <a:ea typeface="Finlandica"/>
                <a:cs typeface="Finlandica"/>
                <a:sym typeface="Finlandica"/>
              </a:rPr>
              <a:t> unique records.</a:t>
            </a:r>
            <a:endParaRPr sz="1600">
              <a:solidFill>
                <a:schemeClr val="dk1"/>
              </a:solidFill>
              <a:latin typeface="Finlandica"/>
              <a:ea typeface="Finlandica"/>
              <a:cs typeface="Finlandica"/>
              <a:sym typeface="Finlandica"/>
            </a:endParaRPr>
          </a:p>
          <a:p>
            <a:pPr marL="0" lvl="0" indent="0" algn="l" rtl="0">
              <a:spcBef>
                <a:spcPts val="0"/>
              </a:spcBef>
              <a:spcAft>
                <a:spcPts val="0"/>
              </a:spcAft>
              <a:buNone/>
            </a:pPr>
            <a:endParaRPr sz="1600">
              <a:solidFill>
                <a:schemeClr val="dk1"/>
              </a:solidFill>
              <a:latin typeface="Finlandica"/>
              <a:ea typeface="Finlandica"/>
              <a:cs typeface="Finlandica"/>
              <a:sym typeface="Finlandica"/>
            </a:endParaRPr>
          </a:p>
          <a:p>
            <a:pPr marL="0" lvl="0" indent="0" algn="l" rtl="0">
              <a:spcBef>
                <a:spcPts val="0"/>
              </a:spcBef>
              <a:spcAft>
                <a:spcPts val="0"/>
              </a:spcAft>
              <a:buNone/>
            </a:pPr>
            <a:endParaRPr sz="1600">
              <a:solidFill>
                <a:schemeClr val="dk1"/>
              </a:solidFill>
              <a:latin typeface="Finlandica"/>
              <a:ea typeface="Finlandica"/>
              <a:cs typeface="Finlandica"/>
              <a:sym typeface="Finlandica"/>
            </a:endParaRPr>
          </a:p>
          <a:p>
            <a:pPr marL="0" lvl="0" indent="0" algn="l" rtl="0">
              <a:spcBef>
                <a:spcPts val="0"/>
              </a:spcBef>
              <a:spcAft>
                <a:spcPts val="0"/>
              </a:spcAft>
              <a:buNone/>
            </a:pPr>
            <a:endParaRPr sz="1600">
              <a:solidFill>
                <a:schemeClr val="dk1"/>
              </a:solidFill>
              <a:latin typeface="Finlandica"/>
              <a:ea typeface="Finlandica"/>
              <a:cs typeface="Finlandica"/>
              <a:sym typeface="Finlandica"/>
            </a:endParaRPr>
          </a:p>
          <a:p>
            <a:pPr marL="0" lvl="0" indent="0" algn="l" rtl="0">
              <a:spcBef>
                <a:spcPts val="0"/>
              </a:spcBef>
              <a:spcAft>
                <a:spcPts val="0"/>
              </a:spcAft>
              <a:buNone/>
            </a:pPr>
            <a:endParaRPr sz="1600">
              <a:solidFill>
                <a:schemeClr val="dk1"/>
              </a:solidFill>
              <a:latin typeface="Finlandica"/>
              <a:ea typeface="Finlandica"/>
              <a:cs typeface="Finlandica"/>
              <a:sym typeface="Finlandica"/>
            </a:endParaRPr>
          </a:p>
          <a:p>
            <a:pPr marL="0" lvl="0" indent="0" algn="l" rtl="0">
              <a:spcBef>
                <a:spcPts val="0"/>
              </a:spcBef>
              <a:spcAft>
                <a:spcPts val="0"/>
              </a:spcAft>
              <a:buNone/>
            </a:pPr>
            <a:endParaRPr sz="1600">
              <a:solidFill>
                <a:schemeClr val="dk1"/>
              </a:solidFill>
              <a:latin typeface="Finlandica"/>
              <a:ea typeface="Finlandica"/>
              <a:cs typeface="Finlandica"/>
              <a:sym typeface="Finlandica"/>
            </a:endParaRPr>
          </a:p>
        </p:txBody>
      </p:sp>
      <p:graphicFrame>
        <p:nvGraphicFramePr>
          <p:cNvPr id="196" name="Google Shape;196;p26"/>
          <p:cNvGraphicFramePr/>
          <p:nvPr/>
        </p:nvGraphicFramePr>
        <p:xfrm>
          <a:off x="1841175" y="1317575"/>
          <a:ext cx="5733450" cy="890397"/>
        </p:xfrm>
        <a:graphic>
          <a:graphicData uri="http://schemas.openxmlformats.org/drawingml/2006/table">
            <a:tbl>
              <a:tblPr>
                <a:noFill/>
                <a:tableStyleId>{A8191DC9-6475-4AB9-94D5-C1EDEA67A8CF}</a:tableStyleId>
              </a:tblPr>
              <a:tblGrid>
                <a:gridCol w="742825">
                  <a:extLst>
                    <a:ext uri="{9D8B030D-6E8A-4147-A177-3AD203B41FA5}">
                      <a16:colId xmlns:a16="http://schemas.microsoft.com/office/drawing/2014/main" val="20000"/>
                    </a:ext>
                  </a:extLst>
                </a:gridCol>
                <a:gridCol w="818575">
                  <a:extLst>
                    <a:ext uri="{9D8B030D-6E8A-4147-A177-3AD203B41FA5}">
                      <a16:colId xmlns:a16="http://schemas.microsoft.com/office/drawing/2014/main" val="20001"/>
                    </a:ext>
                  </a:extLst>
                </a:gridCol>
                <a:gridCol w="660450">
                  <a:extLst>
                    <a:ext uri="{9D8B030D-6E8A-4147-A177-3AD203B41FA5}">
                      <a16:colId xmlns:a16="http://schemas.microsoft.com/office/drawing/2014/main" val="20002"/>
                    </a:ext>
                  </a:extLst>
                </a:gridCol>
                <a:gridCol w="1459375">
                  <a:extLst>
                    <a:ext uri="{9D8B030D-6E8A-4147-A177-3AD203B41FA5}">
                      <a16:colId xmlns:a16="http://schemas.microsoft.com/office/drawing/2014/main" val="20003"/>
                    </a:ext>
                  </a:extLst>
                </a:gridCol>
                <a:gridCol w="2052225">
                  <a:extLst>
                    <a:ext uri="{9D8B030D-6E8A-4147-A177-3AD203B41FA5}">
                      <a16:colId xmlns:a16="http://schemas.microsoft.com/office/drawing/2014/main" val="20004"/>
                    </a:ext>
                  </a:extLst>
                </a:gridCol>
              </a:tblGrid>
              <a:tr h="184025">
                <a:tc gridSpan="2">
                  <a:txBody>
                    <a:bodyPr/>
                    <a:lstStyle/>
                    <a:p>
                      <a:pPr marL="0" lvl="0" indent="0" algn="ctr" rtl="0">
                        <a:lnSpc>
                          <a:spcPct val="115000"/>
                        </a:lnSpc>
                        <a:spcBef>
                          <a:spcPts val="0"/>
                        </a:spcBef>
                        <a:spcAft>
                          <a:spcPts val="0"/>
                        </a:spcAft>
                        <a:buNone/>
                      </a:pPr>
                      <a:r>
                        <a:rPr lang="en">
                          <a:latin typeface="Finlandica"/>
                          <a:ea typeface="Finlandica"/>
                          <a:cs typeface="Finlandica"/>
                          <a:sym typeface="Finlandica"/>
                        </a:rPr>
                        <a:t>Prescription notes</a:t>
                      </a:r>
                      <a:endParaRPr>
                        <a:latin typeface="Finlandica"/>
                        <a:ea typeface="Finlandica"/>
                        <a:cs typeface="Finlandica"/>
                        <a:sym typeface="Finlandica"/>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gridSpan="3">
                  <a:txBody>
                    <a:bodyPr/>
                    <a:lstStyle/>
                    <a:p>
                      <a:pPr marL="0" lvl="0" indent="0" algn="ctr" rtl="0">
                        <a:lnSpc>
                          <a:spcPct val="115000"/>
                        </a:lnSpc>
                        <a:spcBef>
                          <a:spcPts val="0"/>
                        </a:spcBef>
                        <a:spcAft>
                          <a:spcPts val="0"/>
                        </a:spcAft>
                        <a:buNone/>
                      </a:pPr>
                      <a:r>
                        <a:rPr lang="en">
                          <a:latin typeface="Finlandica"/>
                          <a:ea typeface="Finlandica"/>
                          <a:cs typeface="Finlandica"/>
                          <a:sym typeface="Finlandica"/>
                        </a:rPr>
                        <a:t>Diagnosis notes</a:t>
                      </a:r>
                      <a:endParaRPr>
                        <a:latin typeface="Finlandica"/>
                        <a:ea typeface="Finlandica"/>
                        <a:cs typeface="Finlandica"/>
                        <a:sym typeface="Finlandica"/>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52425">
                <a:tc>
                  <a:txBody>
                    <a:bodyPr/>
                    <a:lstStyle/>
                    <a:p>
                      <a:pPr marL="0" lvl="0" indent="0" algn="ctr" rtl="0">
                        <a:lnSpc>
                          <a:spcPct val="115000"/>
                        </a:lnSpc>
                        <a:spcBef>
                          <a:spcPts val="0"/>
                        </a:spcBef>
                        <a:spcAft>
                          <a:spcPts val="0"/>
                        </a:spcAft>
                        <a:buNone/>
                      </a:pPr>
                      <a:r>
                        <a:rPr lang="en">
                          <a:latin typeface="Finlandica"/>
                          <a:ea typeface="Finlandica"/>
                          <a:cs typeface="Finlandica"/>
                          <a:sym typeface="Finlandica"/>
                        </a:rPr>
                        <a:t>Basic</a:t>
                      </a:r>
                      <a:endParaRPr>
                        <a:latin typeface="Finlandica"/>
                        <a:ea typeface="Finlandica"/>
                        <a:cs typeface="Finlandica"/>
                        <a:sym typeface="Finlandica"/>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latin typeface="Finlandica"/>
                          <a:ea typeface="Finlandica"/>
                          <a:cs typeface="Finlandica"/>
                          <a:sym typeface="Finlandica"/>
                        </a:rPr>
                        <a:t>SOAP</a:t>
                      </a:r>
                      <a:endParaRPr>
                        <a:latin typeface="Finlandica"/>
                        <a:ea typeface="Finlandica"/>
                        <a:cs typeface="Finlandica"/>
                        <a:sym typeface="Finlandica"/>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latin typeface="Finlandica"/>
                          <a:ea typeface="Finlandica"/>
                          <a:cs typeface="Finlandica"/>
                          <a:sym typeface="Finlandica"/>
                        </a:rPr>
                        <a:t>Basic</a:t>
                      </a:r>
                      <a:endParaRPr>
                        <a:latin typeface="Finlandica"/>
                        <a:ea typeface="Finlandica"/>
                        <a:cs typeface="Finlandica"/>
                        <a:sym typeface="Finlandica"/>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latin typeface="Finlandica"/>
                          <a:ea typeface="Finlandica"/>
                          <a:cs typeface="Finlandica"/>
                          <a:sym typeface="Finlandica"/>
                        </a:rPr>
                        <a:t>SOAP assessment</a:t>
                      </a:r>
                      <a:endParaRPr>
                        <a:latin typeface="Finlandica"/>
                        <a:ea typeface="Finlandica"/>
                        <a:cs typeface="Finlandica"/>
                        <a:sym typeface="Finlandica"/>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latin typeface="Finlandica"/>
                          <a:ea typeface="Finlandica"/>
                          <a:cs typeface="Finlandica"/>
                          <a:sym typeface="Finlandica"/>
                        </a:rPr>
                        <a:t>SOAP assessment notes</a:t>
                      </a:r>
                      <a:endParaRPr>
                        <a:latin typeface="Finlandica"/>
                        <a:ea typeface="Finlandica"/>
                        <a:cs typeface="Finlandica"/>
                        <a:sym typeface="Finlandica"/>
                      </a:endParaRPr>
                    </a:p>
                  </a:txBody>
                  <a:tcPr marL="91425" marR="9142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a:latin typeface="Finlandica"/>
                          <a:ea typeface="Finlandica"/>
                          <a:cs typeface="Finlandica"/>
                          <a:sym typeface="Finlandica"/>
                        </a:rPr>
                        <a:t>45723</a:t>
                      </a:r>
                      <a:endParaRPr>
                        <a:latin typeface="Finlandica"/>
                        <a:ea typeface="Finlandica"/>
                        <a:cs typeface="Finlandica"/>
                        <a:sym typeface="Finlandica"/>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latin typeface="Finlandica"/>
                          <a:ea typeface="Finlandica"/>
                          <a:cs typeface="Finlandica"/>
                          <a:sym typeface="Finlandica"/>
                        </a:rPr>
                        <a:t>26941</a:t>
                      </a:r>
                      <a:endParaRPr>
                        <a:latin typeface="Finlandica"/>
                        <a:ea typeface="Finlandica"/>
                        <a:cs typeface="Finlandica"/>
                        <a:sym typeface="Finlandica"/>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latin typeface="Finlandica"/>
                          <a:ea typeface="Finlandica"/>
                          <a:cs typeface="Finlandica"/>
                          <a:sym typeface="Finlandica"/>
                        </a:rPr>
                        <a:t>60972</a:t>
                      </a:r>
                      <a:endParaRPr>
                        <a:latin typeface="Finlandica"/>
                        <a:ea typeface="Finlandica"/>
                        <a:cs typeface="Finlandica"/>
                        <a:sym typeface="Finlandica"/>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latin typeface="Finlandica"/>
                          <a:ea typeface="Finlandica"/>
                          <a:cs typeface="Finlandica"/>
                          <a:sym typeface="Finlandica"/>
                        </a:rPr>
                        <a:t>16388</a:t>
                      </a:r>
                      <a:endParaRPr>
                        <a:latin typeface="Finlandica"/>
                        <a:ea typeface="Finlandica"/>
                        <a:cs typeface="Finlandica"/>
                        <a:sym typeface="Finlandica"/>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latin typeface="Finlandica"/>
                          <a:ea typeface="Finlandica"/>
                          <a:cs typeface="Finlandica"/>
                          <a:sym typeface="Finlandica"/>
                        </a:rPr>
                        <a:t>13002</a:t>
                      </a:r>
                      <a:endParaRPr>
                        <a:latin typeface="Finlandica"/>
                        <a:ea typeface="Finlandica"/>
                        <a:cs typeface="Finlandica"/>
                        <a:sym typeface="Finlandica"/>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7"/>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200" b="1">
                <a:solidFill>
                  <a:schemeClr val="lt1"/>
                </a:solidFill>
                <a:latin typeface="Finlandica"/>
                <a:ea typeface="Finlandica"/>
                <a:cs typeface="Finlandica"/>
                <a:sym typeface="Finlandica"/>
              </a:rPr>
              <a:t>Clinical term extraction from unstructured prescription notes</a:t>
            </a:r>
            <a:endParaRPr sz="2200" b="1">
              <a:solidFill>
                <a:schemeClr val="lt1"/>
              </a:solidFill>
              <a:latin typeface="Finlandica"/>
              <a:ea typeface="Finlandica"/>
              <a:cs typeface="Finlandica"/>
              <a:sym typeface="Finlandica"/>
            </a:endParaRPr>
          </a:p>
        </p:txBody>
      </p:sp>
      <p:sp>
        <p:nvSpPr>
          <p:cNvPr id="202" name="Google Shape;202;p27"/>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3" name="Google Shape;203;p27"/>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4" name="Google Shape;204;p27"/>
          <p:cNvPicPr preferRelativeResize="0"/>
          <p:nvPr/>
        </p:nvPicPr>
        <p:blipFill>
          <a:blip r:embed="rId3">
            <a:alphaModFix/>
          </a:blip>
          <a:stretch>
            <a:fillRect/>
          </a:stretch>
        </p:blipFill>
        <p:spPr>
          <a:xfrm>
            <a:off x="283088" y="722400"/>
            <a:ext cx="4037342" cy="4268703"/>
          </a:xfrm>
          <a:prstGeom prst="rect">
            <a:avLst/>
          </a:prstGeom>
          <a:noFill/>
          <a:ln>
            <a:noFill/>
          </a:ln>
        </p:spPr>
      </p:pic>
      <p:pic>
        <p:nvPicPr>
          <p:cNvPr id="205" name="Google Shape;205;p27"/>
          <p:cNvPicPr preferRelativeResize="0"/>
          <p:nvPr/>
        </p:nvPicPr>
        <p:blipFill>
          <a:blip r:embed="rId4">
            <a:alphaModFix/>
          </a:blip>
          <a:stretch>
            <a:fillRect/>
          </a:stretch>
        </p:blipFill>
        <p:spPr>
          <a:xfrm>
            <a:off x="4505395" y="722412"/>
            <a:ext cx="3529774" cy="1839001"/>
          </a:xfrm>
          <a:prstGeom prst="rect">
            <a:avLst/>
          </a:prstGeom>
          <a:noFill/>
          <a:ln>
            <a:noFill/>
          </a:ln>
        </p:spPr>
      </p:pic>
      <p:pic>
        <p:nvPicPr>
          <p:cNvPr id="206" name="Google Shape;206;p27"/>
          <p:cNvPicPr preferRelativeResize="0"/>
          <p:nvPr/>
        </p:nvPicPr>
        <p:blipFill>
          <a:blip r:embed="rId5">
            <a:alphaModFix/>
          </a:blip>
          <a:stretch>
            <a:fillRect/>
          </a:stretch>
        </p:blipFill>
        <p:spPr>
          <a:xfrm>
            <a:off x="4571988" y="2902425"/>
            <a:ext cx="3396552" cy="1786175"/>
          </a:xfrm>
          <a:prstGeom prst="rect">
            <a:avLst/>
          </a:prstGeom>
          <a:noFill/>
          <a:ln>
            <a:noFill/>
          </a:ln>
        </p:spPr>
      </p:pic>
      <p:pic>
        <p:nvPicPr>
          <p:cNvPr id="207" name="Google Shape;207;p27" title="logo-ahs.png"/>
          <p:cNvPicPr preferRelativeResize="0"/>
          <p:nvPr/>
        </p:nvPicPr>
        <p:blipFill>
          <a:blip r:embed="rId6">
            <a:alphaModFix/>
          </a:blip>
          <a:stretch>
            <a:fillRect/>
          </a:stretch>
        </p:blipFill>
        <p:spPr>
          <a:xfrm>
            <a:off x="0" y="4666325"/>
            <a:ext cx="887775" cy="477175"/>
          </a:xfrm>
          <a:prstGeom prst="rect">
            <a:avLst/>
          </a:prstGeom>
          <a:noFill/>
          <a:ln>
            <a:noFill/>
          </a:ln>
        </p:spPr>
      </p:pic>
      <p:sp>
        <p:nvSpPr>
          <p:cNvPr id="208" name="Google Shape;208;p27"/>
          <p:cNvSpPr txBox="1"/>
          <p:nvPr/>
        </p:nvSpPr>
        <p:spPr>
          <a:xfrm>
            <a:off x="4950588" y="2471325"/>
            <a:ext cx="25776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dk1"/>
                </a:solidFill>
                <a:latin typeface="Finlandica"/>
                <a:ea typeface="Finlandica"/>
                <a:cs typeface="Finlandica"/>
                <a:sym typeface="Finlandica"/>
              </a:rPr>
              <a:t>Basic notes extracted terms</a:t>
            </a:r>
            <a:endParaRPr sz="1600">
              <a:solidFill>
                <a:schemeClr val="dk1"/>
              </a:solidFill>
              <a:latin typeface="Finlandica"/>
              <a:ea typeface="Finlandica"/>
              <a:cs typeface="Finlandica"/>
              <a:sym typeface="Finlandica"/>
            </a:endParaRPr>
          </a:p>
        </p:txBody>
      </p:sp>
      <p:sp>
        <p:nvSpPr>
          <p:cNvPr id="209" name="Google Shape;209;p27"/>
          <p:cNvSpPr txBox="1"/>
          <p:nvPr/>
        </p:nvSpPr>
        <p:spPr>
          <a:xfrm>
            <a:off x="4981463" y="4641088"/>
            <a:ext cx="25776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dk1"/>
                </a:solidFill>
                <a:latin typeface="Finlandica"/>
                <a:ea typeface="Finlandica"/>
                <a:cs typeface="Finlandica"/>
                <a:sym typeface="Finlandica"/>
              </a:rPr>
              <a:t>SOAP notes extracted terms</a:t>
            </a:r>
            <a:endParaRPr sz="1600">
              <a:solidFill>
                <a:schemeClr val="dk1"/>
              </a:solidFill>
              <a:latin typeface="Finlandica"/>
              <a:ea typeface="Finlandica"/>
              <a:cs typeface="Finlandica"/>
              <a:sym typeface="Finlandic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0"/>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lt1"/>
                </a:solidFill>
                <a:latin typeface="Finlandica"/>
                <a:ea typeface="Finlandica"/>
                <a:cs typeface="Finlandica"/>
                <a:sym typeface="Finlandica"/>
              </a:rPr>
              <a:t>Benchmarking Open source Language models for medication extraction task </a:t>
            </a:r>
            <a:endParaRPr sz="1800" b="1">
              <a:solidFill>
                <a:schemeClr val="lt1"/>
              </a:solidFill>
              <a:latin typeface="Finlandica"/>
              <a:ea typeface="Finlandica"/>
              <a:cs typeface="Finlandica"/>
              <a:sym typeface="Finlandica"/>
            </a:endParaRPr>
          </a:p>
        </p:txBody>
      </p:sp>
      <p:sp>
        <p:nvSpPr>
          <p:cNvPr id="243" name="Google Shape;243;p30"/>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 name="Google Shape;244;p30"/>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45" name="Google Shape;245;p30"/>
          <p:cNvPicPr preferRelativeResize="0"/>
          <p:nvPr/>
        </p:nvPicPr>
        <p:blipFill>
          <a:blip r:embed="rId3">
            <a:alphaModFix/>
          </a:blip>
          <a:stretch>
            <a:fillRect/>
          </a:stretch>
        </p:blipFill>
        <p:spPr>
          <a:xfrm>
            <a:off x="152400" y="1119152"/>
            <a:ext cx="8839204" cy="1747987"/>
          </a:xfrm>
          <a:prstGeom prst="rect">
            <a:avLst/>
          </a:prstGeom>
          <a:noFill/>
          <a:ln>
            <a:noFill/>
          </a:ln>
        </p:spPr>
      </p:pic>
      <p:pic>
        <p:nvPicPr>
          <p:cNvPr id="246" name="Google Shape;246;p30" title="logo-ahs.png"/>
          <p:cNvPicPr preferRelativeResize="0"/>
          <p:nvPr/>
        </p:nvPicPr>
        <p:blipFill>
          <a:blip r:embed="rId4">
            <a:alphaModFix/>
          </a:blip>
          <a:stretch>
            <a:fillRect/>
          </a:stretch>
        </p:blipFill>
        <p:spPr>
          <a:xfrm>
            <a:off x="0" y="4666325"/>
            <a:ext cx="887775" cy="4771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1"/>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lt1"/>
                </a:solidFill>
                <a:latin typeface="Finlandica"/>
                <a:ea typeface="Finlandica"/>
                <a:cs typeface="Finlandica"/>
                <a:sym typeface="Finlandica"/>
              </a:rPr>
              <a:t>PEFT DATA</a:t>
            </a:r>
            <a:endParaRPr sz="1800" b="1">
              <a:solidFill>
                <a:schemeClr val="lt1"/>
              </a:solidFill>
              <a:latin typeface="Finlandica"/>
              <a:ea typeface="Finlandica"/>
              <a:cs typeface="Finlandica"/>
              <a:sym typeface="Finlandica"/>
            </a:endParaRPr>
          </a:p>
        </p:txBody>
      </p:sp>
      <p:sp>
        <p:nvSpPr>
          <p:cNvPr id="252" name="Google Shape;252;p31"/>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3" name="Google Shape;253;p31"/>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54" name="Google Shape;254;p31" title="logo-ahs.png"/>
          <p:cNvPicPr preferRelativeResize="0"/>
          <p:nvPr/>
        </p:nvPicPr>
        <p:blipFill>
          <a:blip r:embed="rId3">
            <a:alphaModFix/>
          </a:blip>
          <a:stretch>
            <a:fillRect/>
          </a:stretch>
        </p:blipFill>
        <p:spPr>
          <a:xfrm>
            <a:off x="0" y="4666325"/>
            <a:ext cx="887775" cy="477175"/>
          </a:xfrm>
          <a:prstGeom prst="rect">
            <a:avLst/>
          </a:prstGeom>
          <a:noFill/>
          <a:ln>
            <a:noFill/>
          </a:ln>
        </p:spPr>
      </p:pic>
      <p:sp>
        <p:nvSpPr>
          <p:cNvPr id="255" name="Google Shape;255;p31"/>
          <p:cNvSpPr txBox="1"/>
          <p:nvPr/>
        </p:nvSpPr>
        <p:spPr>
          <a:xfrm>
            <a:off x="284700" y="692625"/>
            <a:ext cx="7624800" cy="2215500"/>
          </a:xfrm>
          <a:prstGeom prst="rect">
            <a:avLst/>
          </a:prstGeom>
          <a:solidFill>
            <a:srgbClr val="F3F3F3"/>
          </a:solidFill>
          <a:ln>
            <a:noFill/>
          </a:ln>
        </p:spPr>
        <p:txBody>
          <a:bodyPr spcFirstLastPara="1" wrap="square" lIns="91425" tIns="91425" rIns="91425" bIns="91425" anchor="t" anchorCtr="0">
            <a:normAutofit lnSpcReduction="20000"/>
          </a:bodyPr>
          <a:lstStyle/>
          <a:p>
            <a:pPr marL="0" lvl="0" indent="0" algn="l" rtl="0">
              <a:lnSpc>
                <a:spcPct val="115000"/>
              </a:lnSpc>
              <a:spcBef>
                <a:spcPts val="0"/>
              </a:spcBef>
              <a:spcAft>
                <a:spcPts val="0"/>
              </a:spcAft>
              <a:buNone/>
            </a:pPr>
            <a:r>
              <a:rPr lang="en" sz="1500">
                <a:solidFill>
                  <a:srgbClr val="0B5394"/>
                </a:solidFill>
                <a:latin typeface="Finlandica"/>
                <a:ea typeface="Finlandica"/>
                <a:cs typeface="Finlandica"/>
                <a:sym typeface="Finlandica"/>
              </a:rPr>
              <a:t>We have developed a high-quality annotated dataset of </a:t>
            </a:r>
            <a:r>
              <a:rPr lang="en" sz="1500" b="1">
                <a:solidFill>
                  <a:srgbClr val="0B5394"/>
                </a:solidFill>
                <a:latin typeface="Finlandica"/>
                <a:ea typeface="Finlandica"/>
                <a:cs typeface="Finlandica"/>
                <a:sym typeface="Finlandica"/>
              </a:rPr>
              <a:t>800+ clinical prescription notes</a:t>
            </a:r>
            <a:r>
              <a:rPr lang="en" sz="1500">
                <a:solidFill>
                  <a:srgbClr val="0B5394"/>
                </a:solidFill>
                <a:latin typeface="Finlandica"/>
                <a:ea typeface="Finlandica"/>
                <a:cs typeface="Finlandica"/>
                <a:sym typeface="Finlandica"/>
              </a:rPr>
              <a:t>, categorized based on different annotation schemes and timelines. The annotations contains following fields:</a:t>
            </a:r>
            <a:endParaRPr sz="1500">
              <a:solidFill>
                <a:srgbClr val="0B5394"/>
              </a:solidFill>
              <a:latin typeface="Finlandica"/>
              <a:ea typeface="Finlandica"/>
              <a:cs typeface="Finlandica"/>
              <a:sym typeface="Finlandica"/>
            </a:endParaRPr>
          </a:p>
          <a:p>
            <a:pPr marL="0" lvl="0" indent="0" algn="l" rtl="0">
              <a:lnSpc>
                <a:spcPct val="115000"/>
              </a:lnSpc>
              <a:spcBef>
                <a:spcPts val="0"/>
              </a:spcBef>
              <a:spcAft>
                <a:spcPts val="0"/>
              </a:spcAft>
              <a:buNone/>
            </a:pPr>
            <a:endParaRPr sz="1500">
              <a:solidFill>
                <a:srgbClr val="0B5394"/>
              </a:solidFill>
              <a:latin typeface="Finlandica"/>
              <a:ea typeface="Finlandica"/>
              <a:cs typeface="Finlandica"/>
              <a:sym typeface="Finlandica"/>
            </a:endParaRPr>
          </a:p>
          <a:p>
            <a:pPr marL="457200" lvl="0" indent="-323850" algn="l" rtl="0">
              <a:lnSpc>
                <a:spcPct val="115000"/>
              </a:lnSpc>
              <a:spcBef>
                <a:spcPts val="0"/>
              </a:spcBef>
              <a:spcAft>
                <a:spcPts val="0"/>
              </a:spcAft>
              <a:buClr>
                <a:srgbClr val="0B5394"/>
              </a:buClr>
              <a:buSzPts val="1500"/>
              <a:buFont typeface="Finlandica"/>
              <a:buChar char="●"/>
            </a:pPr>
            <a:r>
              <a:rPr lang="en" sz="1500">
                <a:solidFill>
                  <a:srgbClr val="0B5394"/>
                </a:solidFill>
                <a:latin typeface="Finlandica"/>
                <a:ea typeface="Finlandica"/>
                <a:cs typeface="Finlandica"/>
                <a:sym typeface="Finlandica"/>
              </a:rPr>
              <a:t>5 Fields: </a:t>
            </a:r>
            <a:endParaRPr sz="1500">
              <a:solidFill>
                <a:srgbClr val="0B5394"/>
              </a:solidFill>
              <a:latin typeface="Finlandica"/>
              <a:ea typeface="Finlandica"/>
              <a:cs typeface="Finlandica"/>
              <a:sym typeface="Finlandica"/>
            </a:endParaRPr>
          </a:p>
          <a:p>
            <a:pPr marL="914400" lvl="1" indent="-323850" algn="l" rtl="0">
              <a:lnSpc>
                <a:spcPct val="115000"/>
              </a:lnSpc>
              <a:spcBef>
                <a:spcPts val="0"/>
              </a:spcBef>
              <a:spcAft>
                <a:spcPts val="0"/>
              </a:spcAft>
              <a:buClr>
                <a:srgbClr val="0B5394"/>
              </a:buClr>
              <a:buSzPts val="1500"/>
              <a:buFont typeface="Finlandica"/>
              <a:buChar char="○"/>
            </a:pPr>
            <a:r>
              <a:rPr lang="en" sz="1500" b="1">
                <a:solidFill>
                  <a:srgbClr val="0B5394"/>
                </a:solidFill>
                <a:latin typeface="Courier New"/>
                <a:ea typeface="Courier New"/>
                <a:cs typeface="Courier New"/>
                <a:sym typeface="Courier New"/>
              </a:rPr>
              <a:t>name</a:t>
            </a:r>
            <a:r>
              <a:rPr lang="en" sz="1500" b="1">
                <a:solidFill>
                  <a:srgbClr val="0B5394"/>
                </a:solidFill>
                <a:latin typeface="Finlandica"/>
                <a:ea typeface="Finlandica"/>
                <a:cs typeface="Finlandica"/>
                <a:sym typeface="Finlandica"/>
              </a:rPr>
              <a:t>, </a:t>
            </a:r>
            <a:r>
              <a:rPr lang="en" sz="1500" b="1">
                <a:solidFill>
                  <a:srgbClr val="0B5394"/>
                </a:solidFill>
                <a:latin typeface="Courier New"/>
                <a:ea typeface="Courier New"/>
                <a:cs typeface="Courier New"/>
                <a:sym typeface="Courier New"/>
              </a:rPr>
              <a:t>dosage_form</a:t>
            </a:r>
            <a:r>
              <a:rPr lang="en" sz="1500" b="1">
                <a:solidFill>
                  <a:srgbClr val="0B5394"/>
                </a:solidFill>
                <a:latin typeface="Finlandica"/>
                <a:ea typeface="Finlandica"/>
                <a:cs typeface="Finlandica"/>
                <a:sym typeface="Finlandica"/>
              </a:rPr>
              <a:t>, </a:t>
            </a:r>
            <a:r>
              <a:rPr lang="en" sz="1500" b="1">
                <a:solidFill>
                  <a:srgbClr val="0B5394"/>
                </a:solidFill>
                <a:latin typeface="Courier New"/>
                <a:ea typeface="Courier New"/>
                <a:cs typeface="Courier New"/>
                <a:sym typeface="Courier New"/>
              </a:rPr>
              <a:t>duration</a:t>
            </a:r>
            <a:r>
              <a:rPr lang="en" sz="1500" b="1">
                <a:solidFill>
                  <a:srgbClr val="0B5394"/>
                </a:solidFill>
                <a:latin typeface="Finlandica"/>
                <a:ea typeface="Finlandica"/>
                <a:cs typeface="Finlandica"/>
                <a:sym typeface="Finlandica"/>
              </a:rPr>
              <a:t>, </a:t>
            </a:r>
            <a:r>
              <a:rPr lang="en" sz="1500" b="1">
                <a:solidFill>
                  <a:srgbClr val="0B5394"/>
                </a:solidFill>
                <a:latin typeface="Courier New"/>
                <a:ea typeface="Courier New"/>
                <a:cs typeface="Courier New"/>
                <a:sym typeface="Courier New"/>
              </a:rPr>
              <a:t>frequency</a:t>
            </a:r>
            <a:r>
              <a:rPr lang="en" sz="1500" b="1">
                <a:solidFill>
                  <a:srgbClr val="0B5394"/>
                </a:solidFill>
                <a:latin typeface="Finlandica"/>
                <a:ea typeface="Finlandica"/>
                <a:cs typeface="Finlandica"/>
                <a:sym typeface="Finlandica"/>
              </a:rPr>
              <a:t>, </a:t>
            </a:r>
            <a:r>
              <a:rPr lang="en" sz="1500" b="1">
                <a:solidFill>
                  <a:srgbClr val="0B5394"/>
                </a:solidFill>
                <a:latin typeface="Courier New"/>
                <a:ea typeface="Courier New"/>
                <a:cs typeface="Courier New"/>
                <a:sym typeface="Courier New"/>
              </a:rPr>
              <a:t>strength</a:t>
            </a:r>
            <a:endParaRPr sz="1500" b="1">
              <a:solidFill>
                <a:srgbClr val="0B5394"/>
              </a:solidFill>
              <a:latin typeface="Courier New"/>
              <a:ea typeface="Courier New"/>
              <a:cs typeface="Courier New"/>
              <a:sym typeface="Courier New"/>
            </a:endParaRPr>
          </a:p>
          <a:p>
            <a:pPr marL="457200" lvl="0" indent="-323850" algn="l" rtl="0">
              <a:lnSpc>
                <a:spcPct val="115000"/>
              </a:lnSpc>
              <a:spcBef>
                <a:spcPts val="0"/>
              </a:spcBef>
              <a:spcAft>
                <a:spcPts val="0"/>
              </a:spcAft>
              <a:buClr>
                <a:srgbClr val="0B5394"/>
              </a:buClr>
              <a:buSzPts val="1500"/>
              <a:buFont typeface="Finlandica"/>
              <a:buChar char="●"/>
            </a:pPr>
            <a:r>
              <a:rPr lang="en" sz="1500">
                <a:solidFill>
                  <a:srgbClr val="0B5394"/>
                </a:solidFill>
                <a:latin typeface="Finlandica"/>
                <a:ea typeface="Finlandica"/>
                <a:cs typeface="Finlandica"/>
                <a:sym typeface="Finlandica"/>
              </a:rPr>
              <a:t>8 Fields: </a:t>
            </a:r>
            <a:endParaRPr sz="1500">
              <a:solidFill>
                <a:srgbClr val="0B5394"/>
              </a:solidFill>
              <a:latin typeface="Finlandica"/>
              <a:ea typeface="Finlandica"/>
              <a:cs typeface="Finlandica"/>
              <a:sym typeface="Finlandica"/>
            </a:endParaRPr>
          </a:p>
          <a:p>
            <a:pPr marL="914400" lvl="1" indent="-323850" algn="l" rtl="0">
              <a:lnSpc>
                <a:spcPct val="115000"/>
              </a:lnSpc>
              <a:spcBef>
                <a:spcPts val="0"/>
              </a:spcBef>
              <a:spcAft>
                <a:spcPts val="0"/>
              </a:spcAft>
              <a:buClr>
                <a:srgbClr val="0B5394"/>
              </a:buClr>
              <a:buSzPts val="1500"/>
              <a:buFont typeface="Finlandica"/>
              <a:buChar char="○"/>
            </a:pPr>
            <a:r>
              <a:rPr lang="en" b="1">
                <a:solidFill>
                  <a:srgbClr val="0B5394"/>
                </a:solidFill>
                <a:latin typeface="Courier New"/>
                <a:ea typeface="Courier New"/>
                <a:cs typeface="Courier New"/>
                <a:sym typeface="Courier New"/>
              </a:rPr>
              <a:t>drug_name</a:t>
            </a:r>
            <a:r>
              <a:rPr lang="en" b="1">
                <a:solidFill>
                  <a:srgbClr val="0B5394"/>
                </a:solidFill>
                <a:latin typeface="Finlandica"/>
                <a:ea typeface="Finlandica"/>
                <a:cs typeface="Finlandica"/>
                <a:sym typeface="Finlandica"/>
              </a:rPr>
              <a:t>, </a:t>
            </a:r>
            <a:r>
              <a:rPr lang="en" b="1">
                <a:solidFill>
                  <a:srgbClr val="0B5394"/>
                </a:solidFill>
                <a:latin typeface="Courier New"/>
                <a:ea typeface="Courier New"/>
                <a:cs typeface="Courier New"/>
                <a:sym typeface="Courier New"/>
              </a:rPr>
              <a:t>dose</a:t>
            </a:r>
            <a:r>
              <a:rPr lang="en" b="1">
                <a:solidFill>
                  <a:srgbClr val="0B5394"/>
                </a:solidFill>
                <a:latin typeface="Finlandica"/>
                <a:ea typeface="Finlandica"/>
                <a:cs typeface="Finlandica"/>
                <a:sym typeface="Finlandica"/>
              </a:rPr>
              <a:t>, </a:t>
            </a:r>
            <a:r>
              <a:rPr lang="en" b="1">
                <a:solidFill>
                  <a:srgbClr val="0B5394"/>
                </a:solidFill>
                <a:latin typeface="Courier New"/>
                <a:ea typeface="Courier New"/>
                <a:cs typeface="Courier New"/>
                <a:sym typeface="Courier New"/>
              </a:rPr>
              <a:t>dose_amount</a:t>
            </a:r>
            <a:r>
              <a:rPr lang="en" b="1">
                <a:solidFill>
                  <a:srgbClr val="0B5394"/>
                </a:solidFill>
                <a:latin typeface="Finlandica"/>
                <a:ea typeface="Finlandica"/>
                <a:cs typeface="Finlandica"/>
                <a:sym typeface="Finlandica"/>
              </a:rPr>
              <a:t>, </a:t>
            </a:r>
            <a:r>
              <a:rPr lang="en" b="1">
                <a:solidFill>
                  <a:srgbClr val="0B5394"/>
                </a:solidFill>
                <a:latin typeface="Courier New"/>
                <a:ea typeface="Courier New"/>
                <a:cs typeface="Courier New"/>
                <a:sym typeface="Courier New"/>
              </a:rPr>
              <a:t>dose_change</a:t>
            </a:r>
            <a:r>
              <a:rPr lang="en" b="1">
                <a:solidFill>
                  <a:srgbClr val="0B5394"/>
                </a:solidFill>
                <a:latin typeface="Finlandica"/>
                <a:ea typeface="Finlandica"/>
                <a:cs typeface="Finlandica"/>
                <a:sym typeface="Finlandica"/>
              </a:rPr>
              <a:t>, </a:t>
            </a:r>
            <a:r>
              <a:rPr lang="en" b="1">
                <a:solidFill>
                  <a:srgbClr val="0B5394"/>
                </a:solidFill>
                <a:latin typeface="Courier New"/>
                <a:ea typeface="Courier New"/>
                <a:cs typeface="Courier New"/>
                <a:sym typeface="Courier New"/>
              </a:rPr>
              <a:t>frequency</a:t>
            </a:r>
            <a:r>
              <a:rPr lang="en" b="1">
                <a:solidFill>
                  <a:srgbClr val="0B5394"/>
                </a:solidFill>
                <a:latin typeface="Finlandica"/>
                <a:ea typeface="Finlandica"/>
                <a:cs typeface="Finlandica"/>
                <a:sym typeface="Finlandica"/>
              </a:rPr>
              <a:t>, </a:t>
            </a:r>
            <a:endParaRPr b="1">
              <a:solidFill>
                <a:srgbClr val="0B5394"/>
              </a:solidFill>
              <a:latin typeface="Finlandica"/>
              <a:ea typeface="Finlandica"/>
              <a:cs typeface="Finlandica"/>
              <a:sym typeface="Finlandica"/>
            </a:endParaRPr>
          </a:p>
          <a:p>
            <a:pPr marL="914400" lvl="1" indent="-323850" algn="l" rtl="0">
              <a:lnSpc>
                <a:spcPct val="115000"/>
              </a:lnSpc>
              <a:spcBef>
                <a:spcPts val="0"/>
              </a:spcBef>
              <a:spcAft>
                <a:spcPts val="0"/>
              </a:spcAft>
              <a:buClr>
                <a:srgbClr val="0B5394"/>
              </a:buClr>
              <a:buSzPts val="1500"/>
              <a:buFont typeface="Finlandica"/>
              <a:buChar char="○"/>
            </a:pPr>
            <a:r>
              <a:rPr lang="en" b="1">
                <a:solidFill>
                  <a:srgbClr val="0B5394"/>
                </a:solidFill>
                <a:latin typeface="Courier New"/>
                <a:ea typeface="Courier New"/>
                <a:cs typeface="Courier New"/>
                <a:sym typeface="Courier New"/>
              </a:rPr>
              <a:t>intake_time</a:t>
            </a:r>
            <a:r>
              <a:rPr lang="en" b="1">
                <a:solidFill>
                  <a:srgbClr val="0B5394"/>
                </a:solidFill>
                <a:latin typeface="Finlandica"/>
                <a:ea typeface="Finlandica"/>
                <a:cs typeface="Finlandica"/>
                <a:sym typeface="Finlandica"/>
              </a:rPr>
              <a:t>, </a:t>
            </a:r>
            <a:r>
              <a:rPr lang="en" b="1">
                <a:solidFill>
                  <a:srgbClr val="0B5394"/>
                </a:solidFill>
                <a:latin typeface="Courier New"/>
                <a:ea typeface="Courier New"/>
                <a:cs typeface="Courier New"/>
                <a:sym typeface="Courier New"/>
              </a:rPr>
              <a:t>route</a:t>
            </a:r>
            <a:r>
              <a:rPr lang="en" b="1">
                <a:solidFill>
                  <a:srgbClr val="0B5394"/>
                </a:solidFill>
                <a:latin typeface="Finlandica"/>
                <a:ea typeface="Finlandica"/>
                <a:cs typeface="Finlandica"/>
                <a:sym typeface="Finlandica"/>
              </a:rPr>
              <a:t>, </a:t>
            </a:r>
            <a:r>
              <a:rPr lang="en" b="1">
                <a:solidFill>
                  <a:srgbClr val="0B5394"/>
                </a:solidFill>
                <a:latin typeface="Courier New"/>
                <a:ea typeface="Courier New"/>
                <a:cs typeface="Courier New"/>
                <a:sym typeface="Courier New"/>
              </a:rPr>
              <a:t>duration</a:t>
            </a:r>
            <a:endParaRPr sz="1500" b="1">
              <a:solidFill>
                <a:srgbClr val="0B5394"/>
              </a:solidFill>
              <a:latin typeface="Finlandica"/>
              <a:ea typeface="Finlandica"/>
              <a:cs typeface="Finlandica"/>
              <a:sym typeface="Finlandica"/>
            </a:endParaRPr>
          </a:p>
        </p:txBody>
      </p:sp>
      <p:sp>
        <p:nvSpPr>
          <p:cNvPr id="256" name="Google Shape;256;p31"/>
          <p:cNvSpPr txBox="1"/>
          <p:nvPr/>
        </p:nvSpPr>
        <p:spPr>
          <a:xfrm>
            <a:off x="284700" y="2975800"/>
            <a:ext cx="4051500" cy="1494600"/>
          </a:xfrm>
          <a:prstGeom prst="rect">
            <a:avLst/>
          </a:prstGeom>
          <a:solidFill>
            <a:srgbClr val="F3F3F3"/>
          </a:solidFill>
          <a:ln>
            <a:noFill/>
          </a:ln>
        </p:spPr>
        <p:txBody>
          <a:bodyPr spcFirstLastPara="1" wrap="square" lIns="91425" tIns="91425" rIns="91425" bIns="91425" anchor="t" anchorCtr="0">
            <a:normAutofit lnSpcReduction="20000"/>
          </a:bodyPr>
          <a:lstStyle/>
          <a:p>
            <a:pPr marL="0" lvl="0" indent="0" algn="l" rtl="0">
              <a:lnSpc>
                <a:spcPct val="115000"/>
              </a:lnSpc>
              <a:spcBef>
                <a:spcPts val="0"/>
              </a:spcBef>
              <a:spcAft>
                <a:spcPts val="0"/>
              </a:spcAft>
              <a:buClr>
                <a:srgbClr val="000000"/>
              </a:buClr>
              <a:buSzPts val="1100"/>
              <a:buFont typeface="Arial"/>
              <a:buNone/>
            </a:pPr>
            <a:r>
              <a:rPr lang="en" sz="1500">
                <a:solidFill>
                  <a:srgbClr val="0B5394"/>
                </a:solidFill>
                <a:latin typeface="Finlandica"/>
                <a:ea typeface="Finlandica"/>
                <a:cs typeface="Finlandica"/>
                <a:sym typeface="Finlandica"/>
              </a:rPr>
              <a:t>The dataset is structured into three sub-datasets (SD):</a:t>
            </a:r>
            <a:endParaRPr sz="1500">
              <a:solidFill>
                <a:srgbClr val="0B5394"/>
              </a:solidFill>
              <a:latin typeface="Finlandica"/>
              <a:ea typeface="Finlandica"/>
              <a:cs typeface="Finlandica"/>
              <a:sym typeface="Finlandica"/>
            </a:endParaRPr>
          </a:p>
          <a:p>
            <a:pPr marL="457200" lvl="0" indent="-323850" algn="l" rtl="0">
              <a:lnSpc>
                <a:spcPct val="115000"/>
              </a:lnSpc>
              <a:spcBef>
                <a:spcPts val="0"/>
              </a:spcBef>
              <a:spcAft>
                <a:spcPts val="0"/>
              </a:spcAft>
              <a:buClr>
                <a:srgbClr val="0B5394"/>
              </a:buClr>
              <a:buSzPts val="1500"/>
              <a:buFont typeface="Finlandica"/>
              <a:buChar char="●"/>
            </a:pPr>
            <a:r>
              <a:rPr lang="en" sz="1500">
                <a:solidFill>
                  <a:srgbClr val="0B5394"/>
                </a:solidFill>
                <a:latin typeface="Finlandica"/>
                <a:ea typeface="Finlandica"/>
                <a:cs typeface="Finlandica"/>
                <a:sym typeface="Finlandica"/>
              </a:rPr>
              <a:t>SD-1: 158 notes (5 Fields)</a:t>
            </a:r>
            <a:endParaRPr sz="1500">
              <a:solidFill>
                <a:srgbClr val="0B5394"/>
              </a:solidFill>
              <a:latin typeface="Finlandica"/>
              <a:ea typeface="Finlandica"/>
              <a:cs typeface="Finlandica"/>
              <a:sym typeface="Finlandica"/>
            </a:endParaRPr>
          </a:p>
          <a:p>
            <a:pPr marL="457200" lvl="0" indent="-323850" algn="l" rtl="0">
              <a:lnSpc>
                <a:spcPct val="115000"/>
              </a:lnSpc>
              <a:spcBef>
                <a:spcPts val="0"/>
              </a:spcBef>
              <a:spcAft>
                <a:spcPts val="0"/>
              </a:spcAft>
              <a:buClr>
                <a:srgbClr val="0B5394"/>
              </a:buClr>
              <a:buSzPts val="1500"/>
              <a:buFont typeface="Finlandica"/>
              <a:buChar char="●"/>
            </a:pPr>
            <a:r>
              <a:rPr lang="en" sz="1500">
                <a:solidFill>
                  <a:srgbClr val="0B5394"/>
                </a:solidFill>
                <a:latin typeface="Finlandica"/>
                <a:ea typeface="Finlandica"/>
                <a:cs typeface="Finlandica"/>
                <a:sym typeface="Finlandica"/>
              </a:rPr>
              <a:t>SD-2: 120 notes (5 Fields + 8 Fields)</a:t>
            </a:r>
            <a:endParaRPr sz="1500">
              <a:solidFill>
                <a:srgbClr val="0B5394"/>
              </a:solidFill>
              <a:latin typeface="Finlandica"/>
              <a:ea typeface="Finlandica"/>
              <a:cs typeface="Finlandica"/>
              <a:sym typeface="Finlandica"/>
            </a:endParaRPr>
          </a:p>
          <a:p>
            <a:pPr marL="457200" lvl="0" indent="-323850" algn="l" rtl="0">
              <a:lnSpc>
                <a:spcPct val="115000"/>
              </a:lnSpc>
              <a:spcBef>
                <a:spcPts val="0"/>
              </a:spcBef>
              <a:spcAft>
                <a:spcPts val="0"/>
              </a:spcAft>
              <a:buClr>
                <a:srgbClr val="0B5394"/>
              </a:buClr>
              <a:buSzPts val="1500"/>
              <a:buFont typeface="Finlandica"/>
              <a:buChar char="●"/>
            </a:pPr>
            <a:r>
              <a:rPr lang="en" sz="1500">
                <a:solidFill>
                  <a:srgbClr val="0B5394"/>
                </a:solidFill>
                <a:latin typeface="Finlandica"/>
                <a:ea typeface="Finlandica"/>
                <a:cs typeface="Finlandica"/>
                <a:sym typeface="Finlandica"/>
              </a:rPr>
              <a:t>SD-3: 571 notes (8 Fields)</a:t>
            </a:r>
            <a:endParaRPr sz="1500">
              <a:solidFill>
                <a:srgbClr val="0B5394"/>
              </a:solidFill>
              <a:latin typeface="Finlandica"/>
              <a:ea typeface="Finlandica"/>
              <a:cs typeface="Finlandica"/>
              <a:sym typeface="Finlandica"/>
            </a:endParaRPr>
          </a:p>
          <a:p>
            <a:pPr marL="0" lvl="0" indent="457200" algn="l" rtl="0">
              <a:lnSpc>
                <a:spcPct val="115000"/>
              </a:lnSpc>
              <a:spcBef>
                <a:spcPts val="0"/>
              </a:spcBef>
              <a:spcAft>
                <a:spcPts val="0"/>
              </a:spcAft>
              <a:buNone/>
            </a:pPr>
            <a:r>
              <a:rPr lang="en" sz="1500">
                <a:solidFill>
                  <a:srgbClr val="0B5394"/>
                </a:solidFill>
                <a:latin typeface="Finlandica"/>
                <a:ea typeface="Finlandica"/>
                <a:cs typeface="Finlandica"/>
                <a:sym typeface="Finlandica"/>
              </a:rPr>
              <a:t>Total Notes:  </a:t>
            </a:r>
            <a:r>
              <a:rPr lang="en" sz="1500" b="1">
                <a:solidFill>
                  <a:srgbClr val="0B5394"/>
                </a:solidFill>
                <a:latin typeface="Finlandica"/>
                <a:ea typeface="Finlandica"/>
                <a:cs typeface="Finlandica"/>
                <a:sym typeface="Finlandica"/>
              </a:rPr>
              <a:t>158 + (120 + 571) = 849</a:t>
            </a:r>
            <a:endParaRPr sz="1500" b="1">
              <a:solidFill>
                <a:srgbClr val="0B5394"/>
              </a:solidFill>
              <a:latin typeface="Finlandica"/>
              <a:ea typeface="Finlandica"/>
              <a:cs typeface="Finlandica"/>
              <a:sym typeface="Finlandica"/>
            </a:endParaRPr>
          </a:p>
        </p:txBody>
      </p:sp>
      <p:sp>
        <p:nvSpPr>
          <p:cNvPr id="257" name="Google Shape;257;p31"/>
          <p:cNvSpPr txBox="1"/>
          <p:nvPr/>
        </p:nvSpPr>
        <p:spPr>
          <a:xfrm>
            <a:off x="4410850" y="2959700"/>
            <a:ext cx="3498600" cy="1510800"/>
          </a:xfrm>
          <a:prstGeom prst="rect">
            <a:avLst/>
          </a:prstGeom>
          <a:solidFill>
            <a:srgbClr val="F3F3F3"/>
          </a:solidFill>
          <a:ln>
            <a:noFill/>
          </a:ln>
        </p:spPr>
        <p:txBody>
          <a:bodyPr spcFirstLastPara="1" wrap="square" lIns="45700" tIns="45700" rIns="45700" bIns="0" anchor="t" anchorCtr="0">
            <a:noAutofit/>
          </a:bodyPr>
          <a:lstStyle/>
          <a:p>
            <a:pPr marL="0" lvl="0" indent="0" algn="l" rtl="0">
              <a:lnSpc>
                <a:spcPct val="95000"/>
              </a:lnSpc>
              <a:spcBef>
                <a:spcPts val="0"/>
              </a:spcBef>
              <a:spcAft>
                <a:spcPts val="0"/>
              </a:spcAft>
              <a:buSzPts val="1018"/>
              <a:buNone/>
            </a:pPr>
            <a:r>
              <a:rPr lang="en" b="1">
                <a:solidFill>
                  <a:srgbClr val="0B5394"/>
                </a:solidFill>
                <a:latin typeface="Finlandica"/>
                <a:ea typeface="Finlandica"/>
                <a:cs typeface="Finlandica"/>
                <a:sym typeface="Finlandica"/>
              </a:rPr>
              <a:t>Key Distinction</a:t>
            </a:r>
            <a:r>
              <a:rPr lang="en">
                <a:solidFill>
                  <a:srgbClr val="0B5394"/>
                </a:solidFill>
                <a:latin typeface="Finlandica"/>
                <a:ea typeface="Finlandica"/>
                <a:cs typeface="Finlandica"/>
                <a:sym typeface="Finlandica"/>
              </a:rPr>
              <a:t>:</a:t>
            </a:r>
            <a:endParaRPr>
              <a:solidFill>
                <a:srgbClr val="0B5394"/>
              </a:solidFill>
              <a:latin typeface="Finlandica"/>
              <a:ea typeface="Finlandica"/>
              <a:cs typeface="Finlandica"/>
              <a:sym typeface="Finlandica"/>
            </a:endParaRPr>
          </a:p>
          <a:p>
            <a:pPr marL="0" lvl="0" indent="0" algn="l" rtl="0">
              <a:lnSpc>
                <a:spcPct val="95000"/>
              </a:lnSpc>
              <a:spcBef>
                <a:spcPts val="0"/>
              </a:spcBef>
              <a:spcAft>
                <a:spcPts val="0"/>
              </a:spcAft>
              <a:buSzPts val="1018"/>
              <a:buNone/>
            </a:pPr>
            <a:r>
              <a:rPr lang="en">
                <a:solidFill>
                  <a:srgbClr val="0B5394"/>
                </a:solidFill>
                <a:latin typeface="Finlandica"/>
                <a:ea typeface="Finlandica"/>
                <a:cs typeface="Finlandica"/>
                <a:sym typeface="Finlandica"/>
              </a:rPr>
              <a:t>The primary difference between SD-1 and the combined SD-2/SD-3 datasets lies in the time and </a:t>
            </a:r>
            <a:r>
              <a:rPr lang="en" b="1">
                <a:solidFill>
                  <a:srgbClr val="0B5394"/>
                </a:solidFill>
                <a:latin typeface="Finlandica"/>
                <a:ea typeface="Finlandica"/>
                <a:cs typeface="Finlandica"/>
                <a:sym typeface="Finlandica"/>
              </a:rPr>
              <a:t>type of prescription notes</a:t>
            </a:r>
            <a:r>
              <a:rPr lang="en">
                <a:solidFill>
                  <a:srgbClr val="0B5394"/>
                </a:solidFill>
                <a:latin typeface="Finlandica"/>
                <a:ea typeface="Finlandica"/>
                <a:cs typeface="Finlandica"/>
                <a:sym typeface="Finlandica"/>
              </a:rPr>
              <a:t>. SD-1 was annotated earlier with a focus on the 5 fields and contains , whereas SD-2 and SD-3 were annotated later with 8 Fields.</a:t>
            </a:r>
            <a:endParaRPr b="1">
              <a:solidFill>
                <a:srgbClr val="0B5394"/>
              </a:solidFill>
              <a:latin typeface="Finlandica"/>
              <a:ea typeface="Finlandica"/>
              <a:cs typeface="Finlandica"/>
              <a:sym typeface="Finlandica"/>
            </a:endParaRPr>
          </a:p>
        </p:txBody>
      </p:sp>
      <p:pic>
        <p:nvPicPr>
          <p:cNvPr id="258" name="Google Shape;258;p31"/>
          <p:cNvPicPr preferRelativeResize="0"/>
          <p:nvPr/>
        </p:nvPicPr>
        <p:blipFill>
          <a:blip r:embed="rId4">
            <a:alphaModFix/>
          </a:blip>
          <a:stretch>
            <a:fillRect/>
          </a:stretch>
        </p:blipFill>
        <p:spPr>
          <a:xfrm>
            <a:off x="7013300" y="1553075"/>
            <a:ext cx="1921375" cy="10186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2"/>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lt1"/>
                </a:solidFill>
                <a:latin typeface="Finlandica"/>
                <a:ea typeface="Finlandica"/>
                <a:cs typeface="Finlandica"/>
                <a:sym typeface="Finlandica"/>
              </a:rPr>
              <a:t>PEFT</a:t>
            </a:r>
            <a:endParaRPr sz="1800" b="1">
              <a:solidFill>
                <a:schemeClr val="lt1"/>
              </a:solidFill>
              <a:latin typeface="Finlandica"/>
              <a:ea typeface="Finlandica"/>
              <a:cs typeface="Finlandica"/>
              <a:sym typeface="Finlandica"/>
            </a:endParaRPr>
          </a:p>
        </p:txBody>
      </p:sp>
      <p:sp>
        <p:nvSpPr>
          <p:cNvPr id="264" name="Google Shape;264;p32"/>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5" name="Google Shape;265;p32"/>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66" name="Google Shape;266;p32" title="logo-ahs.png"/>
          <p:cNvPicPr preferRelativeResize="0"/>
          <p:nvPr/>
        </p:nvPicPr>
        <p:blipFill>
          <a:blip r:embed="rId3">
            <a:alphaModFix/>
          </a:blip>
          <a:stretch>
            <a:fillRect/>
          </a:stretch>
        </p:blipFill>
        <p:spPr>
          <a:xfrm>
            <a:off x="0" y="4666325"/>
            <a:ext cx="887775" cy="477175"/>
          </a:xfrm>
          <a:prstGeom prst="rect">
            <a:avLst/>
          </a:prstGeom>
          <a:noFill/>
          <a:ln>
            <a:noFill/>
          </a:ln>
        </p:spPr>
      </p:pic>
      <p:sp>
        <p:nvSpPr>
          <p:cNvPr id="267" name="Google Shape;267;p32"/>
          <p:cNvSpPr/>
          <p:nvPr/>
        </p:nvSpPr>
        <p:spPr>
          <a:xfrm>
            <a:off x="513300" y="843525"/>
            <a:ext cx="8574600" cy="1610400"/>
          </a:xfrm>
          <a:prstGeom prst="rect">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68" name="Google Shape;268;p32"/>
          <p:cNvPicPr preferRelativeResize="0"/>
          <p:nvPr/>
        </p:nvPicPr>
        <p:blipFill rotWithShape="1">
          <a:blip r:embed="rId4">
            <a:alphaModFix/>
          </a:blip>
          <a:srcRect l="2205" t="6313" r="2339" b="8144"/>
          <a:stretch/>
        </p:blipFill>
        <p:spPr>
          <a:xfrm>
            <a:off x="589498" y="1180148"/>
            <a:ext cx="2704403" cy="715775"/>
          </a:xfrm>
          <a:prstGeom prst="rect">
            <a:avLst/>
          </a:prstGeom>
          <a:noFill/>
          <a:ln>
            <a:noFill/>
          </a:ln>
        </p:spPr>
      </p:pic>
      <p:pic>
        <p:nvPicPr>
          <p:cNvPr id="269" name="Google Shape;269;p32"/>
          <p:cNvPicPr preferRelativeResize="0"/>
          <p:nvPr/>
        </p:nvPicPr>
        <p:blipFill rotWithShape="1">
          <a:blip r:embed="rId4">
            <a:alphaModFix/>
          </a:blip>
          <a:srcRect l="2205" t="6313" r="2339" b="8144"/>
          <a:stretch/>
        </p:blipFill>
        <p:spPr>
          <a:xfrm>
            <a:off x="639034" y="1242310"/>
            <a:ext cx="2704403" cy="715775"/>
          </a:xfrm>
          <a:prstGeom prst="rect">
            <a:avLst/>
          </a:prstGeom>
          <a:noFill/>
          <a:ln>
            <a:noFill/>
          </a:ln>
        </p:spPr>
      </p:pic>
      <p:pic>
        <p:nvPicPr>
          <p:cNvPr id="270" name="Google Shape;270;p32"/>
          <p:cNvPicPr preferRelativeResize="0"/>
          <p:nvPr/>
        </p:nvPicPr>
        <p:blipFill rotWithShape="1">
          <a:blip r:embed="rId4">
            <a:alphaModFix/>
          </a:blip>
          <a:srcRect l="2205" t="6313" r="2339" b="8144"/>
          <a:stretch/>
        </p:blipFill>
        <p:spPr>
          <a:xfrm>
            <a:off x="695484" y="1313161"/>
            <a:ext cx="2704403" cy="715775"/>
          </a:xfrm>
          <a:prstGeom prst="rect">
            <a:avLst/>
          </a:prstGeom>
          <a:noFill/>
          <a:ln>
            <a:noFill/>
          </a:ln>
        </p:spPr>
      </p:pic>
      <p:pic>
        <p:nvPicPr>
          <p:cNvPr id="271" name="Google Shape;271;p32"/>
          <p:cNvPicPr preferRelativeResize="0"/>
          <p:nvPr/>
        </p:nvPicPr>
        <p:blipFill rotWithShape="1">
          <a:blip r:embed="rId4">
            <a:alphaModFix/>
          </a:blip>
          <a:srcRect l="2205" t="6313" r="2339" b="8144"/>
          <a:stretch/>
        </p:blipFill>
        <p:spPr>
          <a:xfrm>
            <a:off x="745019" y="1375322"/>
            <a:ext cx="2704403" cy="715775"/>
          </a:xfrm>
          <a:prstGeom prst="rect">
            <a:avLst/>
          </a:prstGeom>
          <a:noFill/>
          <a:ln>
            <a:noFill/>
          </a:ln>
        </p:spPr>
      </p:pic>
      <p:sp>
        <p:nvSpPr>
          <p:cNvPr id="272" name="Google Shape;272;p32"/>
          <p:cNvSpPr/>
          <p:nvPr/>
        </p:nvSpPr>
        <p:spPr>
          <a:xfrm>
            <a:off x="3507000" y="1470925"/>
            <a:ext cx="466500" cy="327900"/>
          </a:xfrm>
          <a:prstGeom prst="rightArrow">
            <a:avLst>
              <a:gd name="adj1" fmla="val 50000"/>
              <a:gd name="adj2" fmla="val 50000"/>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3" name="Google Shape;273;p32"/>
          <p:cNvSpPr txBox="1"/>
          <p:nvPr/>
        </p:nvSpPr>
        <p:spPr>
          <a:xfrm>
            <a:off x="1342825" y="930200"/>
            <a:ext cx="1409700" cy="184800"/>
          </a:xfrm>
          <a:prstGeom prst="rect">
            <a:avLst/>
          </a:prstGeom>
          <a:noFill/>
          <a:ln>
            <a:noFill/>
          </a:ln>
        </p:spPr>
        <p:txBody>
          <a:bodyPr spcFirstLastPara="1" wrap="square" lIns="0" tIns="0" rIns="0" bIns="0" anchor="t" anchorCtr="0">
            <a:spAutoFit/>
          </a:bodyPr>
          <a:lstStyle/>
          <a:p>
            <a:pPr marL="0" lvl="0" indent="0" algn="ctr" rtl="0">
              <a:lnSpc>
                <a:spcPct val="115000"/>
              </a:lnSpc>
              <a:spcBef>
                <a:spcPts val="0"/>
              </a:spcBef>
              <a:spcAft>
                <a:spcPts val="0"/>
              </a:spcAft>
              <a:buNone/>
            </a:pPr>
            <a:r>
              <a:rPr lang="en" sz="1200">
                <a:solidFill>
                  <a:srgbClr val="0B5394"/>
                </a:solidFill>
                <a:latin typeface="Finlandica"/>
                <a:ea typeface="Finlandica"/>
                <a:cs typeface="Finlandica"/>
                <a:sym typeface="Finlandica"/>
              </a:rPr>
              <a:t>Prescription Notes</a:t>
            </a:r>
            <a:endParaRPr sz="1200">
              <a:latin typeface="Finlandica"/>
              <a:ea typeface="Finlandica"/>
              <a:cs typeface="Finlandica"/>
              <a:sym typeface="Finlandica"/>
            </a:endParaRPr>
          </a:p>
        </p:txBody>
      </p:sp>
      <p:sp>
        <p:nvSpPr>
          <p:cNvPr id="274" name="Google Shape;274;p32"/>
          <p:cNvSpPr txBox="1"/>
          <p:nvPr/>
        </p:nvSpPr>
        <p:spPr>
          <a:xfrm>
            <a:off x="4812112" y="843513"/>
            <a:ext cx="1299300" cy="200100"/>
          </a:xfrm>
          <a:prstGeom prst="rect">
            <a:avLst/>
          </a:prstGeom>
          <a:noFill/>
          <a:ln>
            <a:noFill/>
          </a:ln>
        </p:spPr>
        <p:txBody>
          <a:bodyPr spcFirstLastPara="1" wrap="square" lIns="0" tIns="0" rIns="0" bIns="0" anchor="t" anchorCtr="0">
            <a:spAutoFit/>
          </a:bodyPr>
          <a:lstStyle/>
          <a:p>
            <a:pPr marL="0" lvl="0" indent="0" algn="ctr" rtl="0">
              <a:lnSpc>
                <a:spcPct val="115000"/>
              </a:lnSpc>
              <a:spcBef>
                <a:spcPts val="0"/>
              </a:spcBef>
              <a:spcAft>
                <a:spcPts val="0"/>
              </a:spcAft>
              <a:buNone/>
            </a:pPr>
            <a:r>
              <a:rPr lang="en" sz="1300">
                <a:solidFill>
                  <a:srgbClr val="0B5394"/>
                </a:solidFill>
                <a:latin typeface="Finlandica"/>
                <a:ea typeface="Finlandica"/>
                <a:cs typeface="Finlandica"/>
                <a:sym typeface="Finlandica"/>
              </a:rPr>
              <a:t>Training Data</a:t>
            </a:r>
            <a:endParaRPr sz="1300">
              <a:latin typeface="Finlandica"/>
              <a:ea typeface="Finlandica"/>
              <a:cs typeface="Finlandica"/>
              <a:sym typeface="Finlandica"/>
            </a:endParaRPr>
          </a:p>
        </p:txBody>
      </p:sp>
      <p:pic>
        <p:nvPicPr>
          <p:cNvPr id="275" name="Google Shape;275;p32"/>
          <p:cNvPicPr preferRelativeResize="0"/>
          <p:nvPr/>
        </p:nvPicPr>
        <p:blipFill rotWithShape="1">
          <a:blip r:embed="rId5">
            <a:alphaModFix/>
          </a:blip>
          <a:srcRect l="1702" t="4700" r="1567" b="3143"/>
          <a:stretch/>
        </p:blipFill>
        <p:spPr>
          <a:xfrm>
            <a:off x="4050024" y="1084211"/>
            <a:ext cx="2823484" cy="1200830"/>
          </a:xfrm>
          <a:prstGeom prst="rect">
            <a:avLst/>
          </a:prstGeom>
          <a:noFill/>
          <a:ln>
            <a:noFill/>
          </a:ln>
        </p:spPr>
      </p:pic>
      <p:pic>
        <p:nvPicPr>
          <p:cNvPr id="276" name="Google Shape;276;p32"/>
          <p:cNvPicPr preferRelativeResize="0"/>
          <p:nvPr/>
        </p:nvPicPr>
        <p:blipFill rotWithShape="1">
          <a:blip r:embed="rId5">
            <a:alphaModFix/>
          </a:blip>
          <a:srcRect l="1702" t="4700" r="1567" b="3143"/>
          <a:stretch/>
        </p:blipFill>
        <p:spPr>
          <a:xfrm>
            <a:off x="4093460" y="1113137"/>
            <a:ext cx="2823484" cy="1200830"/>
          </a:xfrm>
          <a:prstGeom prst="rect">
            <a:avLst/>
          </a:prstGeom>
          <a:noFill/>
          <a:ln>
            <a:noFill/>
          </a:ln>
        </p:spPr>
      </p:pic>
      <p:pic>
        <p:nvPicPr>
          <p:cNvPr id="277" name="Google Shape;277;p32"/>
          <p:cNvPicPr preferRelativeResize="0"/>
          <p:nvPr/>
        </p:nvPicPr>
        <p:blipFill rotWithShape="1">
          <a:blip r:embed="rId5">
            <a:alphaModFix/>
          </a:blip>
          <a:srcRect l="1702" t="4700" r="1567" b="3143"/>
          <a:stretch/>
        </p:blipFill>
        <p:spPr>
          <a:xfrm>
            <a:off x="4140054" y="1152454"/>
            <a:ext cx="2823484" cy="1200830"/>
          </a:xfrm>
          <a:prstGeom prst="rect">
            <a:avLst/>
          </a:prstGeom>
          <a:noFill/>
          <a:ln>
            <a:noFill/>
          </a:ln>
        </p:spPr>
      </p:pic>
      <p:pic>
        <p:nvPicPr>
          <p:cNvPr id="278" name="Google Shape;278;p32"/>
          <p:cNvPicPr preferRelativeResize="0"/>
          <p:nvPr/>
        </p:nvPicPr>
        <p:blipFill rotWithShape="1">
          <a:blip r:embed="rId5">
            <a:alphaModFix/>
          </a:blip>
          <a:srcRect l="1702" t="4700" r="1567" b="3143"/>
          <a:stretch/>
        </p:blipFill>
        <p:spPr>
          <a:xfrm>
            <a:off x="4183490" y="1181381"/>
            <a:ext cx="2823484" cy="1200830"/>
          </a:xfrm>
          <a:prstGeom prst="rect">
            <a:avLst/>
          </a:prstGeom>
          <a:noFill/>
          <a:ln>
            <a:noFill/>
          </a:ln>
        </p:spPr>
      </p:pic>
      <p:sp>
        <p:nvSpPr>
          <p:cNvPr id="279" name="Google Shape;279;p32"/>
          <p:cNvSpPr/>
          <p:nvPr/>
        </p:nvSpPr>
        <p:spPr>
          <a:xfrm>
            <a:off x="7126775" y="1547125"/>
            <a:ext cx="907500" cy="348900"/>
          </a:xfrm>
          <a:prstGeom prst="rightArrow">
            <a:avLst>
              <a:gd name="adj1" fmla="val 50000"/>
              <a:gd name="adj2" fmla="val 50000"/>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80" name="Google Shape;280;p32"/>
          <p:cNvPicPr preferRelativeResize="0"/>
          <p:nvPr/>
        </p:nvPicPr>
        <p:blipFill>
          <a:blip r:embed="rId6">
            <a:alphaModFix/>
          </a:blip>
          <a:stretch>
            <a:fillRect/>
          </a:stretch>
        </p:blipFill>
        <p:spPr>
          <a:xfrm>
            <a:off x="8121348" y="1293550"/>
            <a:ext cx="721350" cy="918081"/>
          </a:xfrm>
          <a:prstGeom prst="rect">
            <a:avLst/>
          </a:prstGeom>
          <a:noFill/>
          <a:ln>
            <a:noFill/>
          </a:ln>
        </p:spPr>
      </p:pic>
      <p:sp>
        <p:nvSpPr>
          <p:cNvPr id="281" name="Google Shape;281;p32"/>
          <p:cNvSpPr txBox="1"/>
          <p:nvPr/>
        </p:nvSpPr>
        <p:spPr>
          <a:xfrm>
            <a:off x="7788612" y="843513"/>
            <a:ext cx="1299300" cy="430200"/>
          </a:xfrm>
          <a:prstGeom prst="rect">
            <a:avLst/>
          </a:prstGeom>
          <a:noFill/>
          <a:ln>
            <a:noFill/>
          </a:ln>
        </p:spPr>
        <p:txBody>
          <a:bodyPr spcFirstLastPara="1" wrap="square" lIns="0" tIns="0" rIns="0" bIns="0" anchor="t" anchorCtr="0">
            <a:spAutoFit/>
          </a:bodyPr>
          <a:lstStyle/>
          <a:p>
            <a:pPr marL="0" lvl="0" indent="0" algn="ctr" rtl="0">
              <a:lnSpc>
                <a:spcPct val="115000"/>
              </a:lnSpc>
              <a:spcBef>
                <a:spcPts val="0"/>
              </a:spcBef>
              <a:spcAft>
                <a:spcPts val="0"/>
              </a:spcAft>
              <a:buNone/>
            </a:pPr>
            <a:r>
              <a:rPr lang="en" sz="1300">
                <a:solidFill>
                  <a:srgbClr val="0B5394"/>
                </a:solidFill>
                <a:latin typeface="Finlandica"/>
                <a:ea typeface="Finlandica"/>
                <a:cs typeface="Finlandica"/>
                <a:sym typeface="Finlandica"/>
              </a:rPr>
              <a:t>Tokenized </a:t>
            </a:r>
            <a:endParaRPr sz="1300">
              <a:solidFill>
                <a:srgbClr val="0B5394"/>
              </a:solidFill>
              <a:latin typeface="Finlandica"/>
              <a:ea typeface="Finlandica"/>
              <a:cs typeface="Finlandica"/>
              <a:sym typeface="Finlandica"/>
            </a:endParaRPr>
          </a:p>
          <a:p>
            <a:pPr marL="0" lvl="0" indent="0" algn="ctr" rtl="0">
              <a:lnSpc>
                <a:spcPct val="115000"/>
              </a:lnSpc>
              <a:spcBef>
                <a:spcPts val="0"/>
              </a:spcBef>
              <a:spcAft>
                <a:spcPts val="0"/>
              </a:spcAft>
              <a:buNone/>
            </a:pPr>
            <a:r>
              <a:rPr lang="en" sz="1300">
                <a:solidFill>
                  <a:srgbClr val="0B5394"/>
                </a:solidFill>
                <a:latin typeface="Finlandica"/>
                <a:ea typeface="Finlandica"/>
                <a:cs typeface="Finlandica"/>
                <a:sym typeface="Finlandica"/>
              </a:rPr>
              <a:t>Training Data</a:t>
            </a:r>
            <a:endParaRPr sz="1300">
              <a:latin typeface="Finlandica"/>
              <a:ea typeface="Finlandica"/>
              <a:cs typeface="Finlandica"/>
              <a:sym typeface="Finlandica"/>
            </a:endParaRPr>
          </a:p>
        </p:txBody>
      </p:sp>
      <p:sp>
        <p:nvSpPr>
          <p:cNvPr id="282" name="Google Shape;282;p32"/>
          <p:cNvSpPr txBox="1"/>
          <p:nvPr/>
        </p:nvSpPr>
        <p:spPr>
          <a:xfrm>
            <a:off x="7158117" y="1628950"/>
            <a:ext cx="812100" cy="169200"/>
          </a:xfrm>
          <a:prstGeom prst="rect">
            <a:avLst/>
          </a:prstGeom>
          <a:noFill/>
          <a:ln>
            <a:noFill/>
          </a:ln>
        </p:spPr>
        <p:txBody>
          <a:bodyPr spcFirstLastPara="1" wrap="square" lIns="0" tIns="0" rIns="0" bIns="0" anchor="t" anchorCtr="0">
            <a:spAutoFit/>
          </a:bodyPr>
          <a:lstStyle/>
          <a:p>
            <a:pPr marL="0" lvl="0" indent="0" algn="ctr" rtl="0">
              <a:lnSpc>
                <a:spcPct val="115000"/>
              </a:lnSpc>
              <a:spcBef>
                <a:spcPts val="0"/>
              </a:spcBef>
              <a:spcAft>
                <a:spcPts val="0"/>
              </a:spcAft>
              <a:buNone/>
            </a:pPr>
            <a:r>
              <a:rPr lang="en" sz="1100">
                <a:solidFill>
                  <a:srgbClr val="0B5394"/>
                </a:solidFill>
                <a:latin typeface="Finlandica"/>
                <a:ea typeface="Finlandica"/>
                <a:cs typeface="Finlandica"/>
                <a:sym typeface="Finlandica"/>
              </a:rPr>
              <a:t>Token Length</a:t>
            </a:r>
            <a:endParaRPr sz="1100">
              <a:latin typeface="Finlandica"/>
              <a:ea typeface="Finlandica"/>
              <a:cs typeface="Finlandica"/>
              <a:sym typeface="Finlandica"/>
            </a:endParaRPr>
          </a:p>
        </p:txBody>
      </p:sp>
      <p:pic>
        <p:nvPicPr>
          <p:cNvPr id="283" name="Google Shape;283;p32"/>
          <p:cNvPicPr preferRelativeResize="0"/>
          <p:nvPr/>
        </p:nvPicPr>
        <p:blipFill rotWithShape="1">
          <a:blip r:embed="rId7">
            <a:alphaModFix/>
          </a:blip>
          <a:srcRect l="4246" t="3473" r="3842" b="4166"/>
          <a:stretch/>
        </p:blipFill>
        <p:spPr>
          <a:xfrm>
            <a:off x="960825" y="2827113"/>
            <a:ext cx="1857924" cy="1922800"/>
          </a:xfrm>
          <a:prstGeom prst="rect">
            <a:avLst/>
          </a:prstGeom>
          <a:noFill/>
          <a:ln>
            <a:noFill/>
          </a:ln>
        </p:spPr>
      </p:pic>
      <p:sp>
        <p:nvSpPr>
          <p:cNvPr id="284" name="Google Shape;284;p32"/>
          <p:cNvSpPr txBox="1"/>
          <p:nvPr/>
        </p:nvSpPr>
        <p:spPr>
          <a:xfrm>
            <a:off x="513300" y="541900"/>
            <a:ext cx="6982800" cy="246300"/>
          </a:xfrm>
          <a:prstGeom prst="rect">
            <a:avLst/>
          </a:prstGeom>
          <a:noFill/>
          <a:ln>
            <a:noFill/>
          </a:ln>
        </p:spPr>
        <p:txBody>
          <a:bodyPr spcFirstLastPara="1" wrap="square" lIns="0" tIns="0" rIns="0" bIns="0" anchor="t" anchorCtr="0">
            <a:spAutoFit/>
          </a:bodyPr>
          <a:lstStyle/>
          <a:p>
            <a:pPr marL="0" lvl="0" indent="0" algn="just" rtl="0">
              <a:lnSpc>
                <a:spcPct val="115000"/>
              </a:lnSpc>
              <a:spcBef>
                <a:spcPts val="0"/>
              </a:spcBef>
              <a:spcAft>
                <a:spcPts val="0"/>
              </a:spcAft>
              <a:buNone/>
            </a:pPr>
            <a:r>
              <a:rPr lang="en" sz="1600" b="1">
                <a:solidFill>
                  <a:srgbClr val="1155CD"/>
                </a:solidFill>
                <a:latin typeface="Georgia"/>
                <a:ea typeface="Georgia"/>
                <a:cs typeface="Georgia"/>
                <a:sym typeface="Georgia"/>
              </a:rPr>
              <a:t>A.</a:t>
            </a:r>
            <a:r>
              <a:rPr lang="en" sz="1600">
                <a:solidFill>
                  <a:srgbClr val="1155CD"/>
                </a:solidFill>
                <a:latin typeface="Georgia"/>
                <a:ea typeface="Georgia"/>
                <a:cs typeface="Georgia"/>
                <a:sym typeface="Georgia"/>
              </a:rPr>
              <a:t> Training Data Preparation (</a:t>
            </a:r>
            <a:r>
              <a:rPr lang="en" sz="1600" b="1">
                <a:solidFill>
                  <a:srgbClr val="1155CD"/>
                </a:solidFill>
                <a:latin typeface="Georgia"/>
                <a:ea typeface="Georgia"/>
                <a:cs typeface="Georgia"/>
                <a:sym typeface="Georgia"/>
              </a:rPr>
              <a:t>500</a:t>
            </a:r>
            <a:r>
              <a:rPr lang="en" sz="1600">
                <a:solidFill>
                  <a:srgbClr val="1155CD"/>
                </a:solidFill>
                <a:latin typeface="Georgia"/>
                <a:ea typeface="Georgia"/>
                <a:cs typeface="Georgia"/>
                <a:sym typeface="Georgia"/>
              </a:rPr>
              <a:t> training data and </a:t>
            </a:r>
            <a:r>
              <a:rPr lang="en" sz="1600" b="1">
                <a:solidFill>
                  <a:srgbClr val="1155CD"/>
                </a:solidFill>
                <a:latin typeface="Georgia"/>
                <a:ea typeface="Georgia"/>
                <a:cs typeface="Georgia"/>
                <a:sym typeface="Georgia"/>
              </a:rPr>
              <a:t>71</a:t>
            </a:r>
            <a:r>
              <a:rPr lang="en" sz="1600">
                <a:solidFill>
                  <a:srgbClr val="1155CD"/>
                </a:solidFill>
                <a:latin typeface="Georgia"/>
                <a:ea typeface="Georgia"/>
                <a:cs typeface="Georgia"/>
                <a:sym typeface="Georgia"/>
              </a:rPr>
              <a:t> test data)</a:t>
            </a:r>
            <a:endParaRPr sz="1600">
              <a:solidFill>
                <a:srgbClr val="1155CD"/>
              </a:solidFill>
              <a:latin typeface="Georgia"/>
              <a:ea typeface="Georgia"/>
              <a:cs typeface="Georgia"/>
              <a:sym typeface="Georgia"/>
            </a:endParaRPr>
          </a:p>
        </p:txBody>
      </p:sp>
      <p:sp>
        <p:nvSpPr>
          <p:cNvPr id="285" name="Google Shape;285;p32"/>
          <p:cNvSpPr txBox="1"/>
          <p:nvPr/>
        </p:nvSpPr>
        <p:spPr>
          <a:xfrm>
            <a:off x="818100" y="2512725"/>
            <a:ext cx="2329200" cy="277200"/>
          </a:xfrm>
          <a:prstGeom prst="rect">
            <a:avLst/>
          </a:prstGeom>
          <a:noFill/>
          <a:ln>
            <a:noFill/>
          </a:ln>
        </p:spPr>
        <p:txBody>
          <a:bodyPr spcFirstLastPara="1" wrap="square" lIns="0" tIns="0" rIns="0" bIns="0" anchor="t" anchorCtr="0">
            <a:spAutoFit/>
          </a:bodyPr>
          <a:lstStyle/>
          <a:p>
            <a:pPr marL="0" lvl="0" indent="0" algn="just" rtl="0">
              <a:lnSpc>
                <a:spcPct val="115000"/>
              </a:lnSpc>
              <a:spcBef>
                <a:spcPts val="0"/>
              </a:spcBef>
              <a:spcAft>
                <a:spcPts val="0"/>
              </a:spcAft>
              <a:buNone/>
            </a:pPr>
            <a:r>
              <a:rPr lang="en" sz="1800" b="1">
                <a:solidFill>
                  <a:srgbClr val="1155CD"/>
                </a:solidFill>
                <a:latin typeface="Finlandica"/>
                <a:ea typeface="Finlandica"/>
                <a:cs typeface="Finlandica"/>
                <a:sym typeface="Finlandica"/>
              </a:rPr>
              <a:t>B.</a:t>
            </a:r>
            <a:r>
              <a:rPr lang="en" sz="1800">
                <a:solidFill>
                  <a:srgbClr val="1155CD"/>
                </a:solidFill>
                <a:latin typeface="Finlandica"/>
                <a:ea typeface="Finlandica"/>
                <a:cs typeface="Finlandica"/>
                <a:sym typeface="Finlandica"/>
              </a:rPr>
              <a:t> Model Preparation</a:t>
            </a:r>
            <a:endParaRPr sz="1800">
              <a:solidFill>
                <a:srgbClr val="1155CD"/>
              </a:solidFill>
              <a:latin typeface="Finlandica"/>
              <a:ea typeface="Finlandica"/>
              <a:cs typeface="Finlandica"/>
              <a:sym typeface="Finlandica"/>
            </a:endParaRPr>
          </a:p>
        </p:txBody>
      </p:sp>
      <p:pic>
        <p:nvPicPr>
          <p:cNvPr id="286" name="Google Shape;286;p32"/>
          <p:cNvPicPr preferRelativeResize="0"/>
          <p:nvPr/>
        </p:nvPicPr>
        <p:blipFill rotWithShape="1">
          <a:blip r:embed="rId8">
            <a:alphaModFix/>
          </a:blip>
          <a:srcRect l="2009" t="7360" r="1884" b="6463"/>
          <a:stretch/>
        </p:blipFill>
        <p:spPr>
          <a:xfrm>
            <a:off x="3714153" y="3688825"/>
            <a:ext cx="5203301" cy="1342525"/>
          </a:xfrm>
          <a:prstGeom prst="rect">
            <a:avLst/>
          </a:prstGeom>
          <a:noFill/>
          <a:ln>
            <a:noFill/>
          </a:ln>
        </p:spPr>
      </p:pic>
      <p:sp>
        <p:nvSpPr>
          <p:cNvPr id="287" name="Google Shape;287;p32"/>
          <p:cNvSpPr txBox="1"/>
          <p:nvPr/>
        </p:nvSpPr>
        <p:spPr>
          <a:xfrm>
            <a:off x="3805300" y="3384975"/>
            <a:ext cx="1346400" cy="2772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None/>
            </a:pPr>
            <a:r>
              <a:rPr lang="en" sz="1800" b="1">
                <a:solidFill>
                  <a:srgbClr val="1155CD"/>
                </a:solidFill>
                <a:latin typeface="Finlandica"/>
                <a:ea typeface="Finlandica"/>
                <a:cs typeface="Finlandica"/>
                <a:sym typeface="Finlandica"/>
              </a:rPr>
              <a:t>C.</a:t>
            </a:r>
            <a:r>
              <a:rPr lang="en" sz="1800">
                <a:solidFill>
                  <a:srgbClr val="1155CD"/>
                </a:solidFill>
                <a:latin typeface="Finlandica"/>
                <a:ea typeface="Finlandica"/>
                <a:cs typeface="Finlandica"/>
                <a:sym typeface="Finlandica"/>
              </a:rPr>
              <a:t> Training</a:t>
            </a:r>
            <a:endParaRPr sz="1800">
              <a:solidFill>
                <a:srgbClr val="1155CD"/>
              </a:solidFill>
              <a:latin typeface="Finlandica"/>
              <a:ea typeface="Finlandica"/>
              <a:cs typeface="Finlandica"/>
              <a:sym typeface="Finlandica"/>
            </a:endParaRPr>
          </a:p>
        </p:txBody>
      </p:sp>
      <p:pic>
        <p:nvPicPr>
          <p:cNvPr id="288" name="Google Shape;288;p32"/>
          <p:cNvPicPr preferRelativeResize="0"/>
          <p:nvPr/>
        </p:nvPicPr>
        <p:blipFill>
          <a:blip r:embed="rId9">
            <a:alphaModFix/>
          </a:blip>
          <a:stretch>
            <a:fillRect/>
          </a:stretch>
        </p:blipFill>
        <p:spPr>
          <a:xfrm>
            <a:off x="6743975" y="2453924"/>
            <a:ext cx="2329202" cy="12349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pic>
        <p:nvPicPr>
          <p:cNvPr id="302" name="Google Shape;302;p34"/>
          <p:cNvPicPr preferRelativeResize="0"/>
          <p:nvPr/>
        </p:nvPicPr>
        <p:blipFill>
          <a:blip r:embed="rId3">
            <a:alphaModFix/>
          </a:blip>
          <a:stretch>
            <a:fillRect/>
          </a:stretch>
        </p:blipFill>
        <p:spPr>
          <a:xfrm>
            <a:off x="363849" y="1160050"/>
            <a:ext cx="7920973" cy="2916225"/>
          </a:xfrm>
          <a:prstGeom prst="rect">
            <a:avLst/>
          </a:prstGeom>
          <a:noFill/>
          <a:ln>
            <a:noFill/>
          </a:ln>
        </p:spPr>
      </p:pic>
      <p:sp>
        <p:nvSpPr>
          <p:cNvPr id="303" name="Google Shape;303;p34"/>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200" b="1">
                <a:solidFill>
                  <a:schemeClr val="lt1"/>
                </a:solidFill>
                <a:latin typeface="Finlandica"/>
                <a:ea typeface="Finlandica"/>
                <a:cs typeface="Finlandica"/>
                <a:sym typeface="Finlandica"/>
              </a:rPr>
              <a:t>Clinical term extraction from unstructured diagnosis notes</a:t>
            </a:r>
            <a:endParaRPr sz="2200" b="1">
              <a:solidFill>
                <a:schemeClr val="lt1"/>
              </a:solidFill>
              <a:latin typeface="Finlandica"/>
              <a:ea typeface="Finlandica"/>
              <a:cs typeface="Finlandica"/>
              <a:sym typeface="Finlandica"/>
            </a:endParaRPr>
          </a:p>
        </p:txBody>
      </p:sp>
      <p:sp>
        <p:nvSpPr>
          <p:cNvPr id="304" name="Google Shape;304;p34"/>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5" name="Google Shape;305;p34"/>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06" name="Google Shape;306;p34" title="logo-ahs.png"/>
          <p:cNvPicPr preferRelativeResize="0"/>
          <p:nvPr/>
        </p:nvPicPr>
        <p:blipFill>
          <a:blip r:embed="rId4">
            <a:alphaModFix/>
          </a:blip>
          <a:stretch>
            <a:fillRect/>
          </a:stretch>
        </p:blipFill>
        <p:spPr>
          <a:xfrm>
            <a:off x="0" y="4666325"/>
            <a:ext cx="887775" cy="477175"/>
          </a:xfrm>
          <a:prstGeom prst="rect">
            <a:avLst/>
          </a:prstGeom>
          <a:noFill/>
          <a:ln>
            <a:noFill/>
          </a:ln>
        </p:spPr>
      </p:pic>
      <p:sp>
        <p:nvSpPr>
          <p:cNvPr id="307" name="Google Shape;307;p34"/>
          <p:cNvSpPr txBox="1"/>
          <p:nvPr/>
        </p:nvSpPr>
        <p:spPr>
          <a:xfrm>
            <a:off x="415859" y="2171550"/>
            <a:ext cx="42024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Finlandica"/>
                <a:ea typeface="Finlandica"/>
                <a:cs typeface="Finlandica"/>
                <a:sym typeface="Finlandica"/>
              </a:rPr>
              <a:t>60972</a:t>
            </a:r>
            <a:endParaRPr sz="18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35"/>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200" b="1">
                <a:solidFill>
                  <a:schemeClr val="lt1"/>
                </a:solidFill>
                <a:latin typeface="Finlandica"/>
                <a:ea typeface="Finlandica"/>
                <a:cs typeface="Finlandica"/>
                <a:sym typeface="Finlandica"/>
              </a:rPr>
              <a:t>Clinical term extraction from unstructured diagnosis notes</a:t>
            </a:r>
            <a:endParaRPr sz="2200" b="1">
              <a:solidFill>
                <a:schemeClr val="lt1"/>
              </a:solidFill>
              <a:latin typeface="Finlandica"/>
              <a:ea typeface="Finlandica"/>
              <a:cs typeface="Finlandica"/>
              <a:sym typeface="Finlandica"/>
            </a:endParaRPr>
          </a:p>
        </p:txBody>
      </p:sp>
      <p:sp>
        <p:nvSpPr>
          <p:cNvPr id="313" name="Google Shape;313;p35"/>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4" name="Google Shape;314;p35"/>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15" name="Google Shape;315;p35"/>
          <p:cNvPicPr preferRelativeResize="0"/>
          <p:nvPr/>
        </p:nvPicPr>
        <p:blipFill>
          <a:blip r:embed="rId3">
            <a:alphaModFix/>
          </a:blip>
          <a:stretch>
            <a:fillRect/>
          </a:stretch>
        </p:blipFill>
        <p:spPr>
          <a:xfrm>
            <a:off x="764425" y="1064225"/>
            <a:ext cx="7886950" cy="2903699"/>
          </a:xfrm>
          <a:prstGeom prst="rect">
            <a:avLst/>
          </a:prstGeom>
          <a:noFill/>
          <a:ln>
            <a:noFill/>
          </a:ln>
        </p:spPr>
      </p:pic>
      <p:pic>
        <p:nvPicPr>
          <p:cNvPr id="316" name="Google Shape;316;p35" title="logo-ahs.png"/>
          <p:cNvPicPr preferRelativeResize="0"/>
          <p:nvPr/>
        </p:nvPicPr>
        <p:blipFill>
          <a:blip r:embed="rId4">
            <a:alphaModFix/>
          </a:blip>
          <a:stretch>
            <a:fillRect/>
          </a:stretch>
        </p:blipFill>
        <p:spPr>
          <a:xfrm>
            <a:off x="0" y="4666325"/>
            <a:ext cx="887775" cy="477175"/>
          </a:xfrm>
          <a:prstGeom prst="rect">
            <a:avLst/>
          </a:prstGeom>
          <a:noFill/>
          <a:ln>
            <a:noFill/>
          </a:ln>
        </p:spPr>
      </p:pic>
      <p:sp>
        <p:nvSpPr>
          <p:cNvPr id="317" name="Google Shape;317;p35"/>
          <p:cNvSpPr txBox="1"/>
          <p:nvPr/>
        </p:nvSpPr>
        <p:spPr>
          <a:xfrm>
            <a:off x="795250" y="1736375"/>
            <a:ext cx="42024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Finlandica"/>
                <a:ea typeface="Finlandica"/>
                <a:cs typeface="Finlandica"/>
                <a:sym typeface="Finlandica"/>
              </a:rPr>
              <a:t>16388</a:t>
            </a:r>
            <a:endParaRPr sz="18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6"/>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200" b="1">
                <a:solidFill>
                  <a:schemeClr val="lt1"/>
                </a:solidFill>
                <a:latin typeface="Finlandica"/>
                <a:ea typeface="Finlandica"/>
                <a:cs typeface="Finlandica"/>
                <a:sym typeface="Finlandica"/>
              </a:rPr>
              <a:t>Clinical term extraction from unstructured diagnosis notes</a:t>
            </a:r>
            <a:endParaRPr sz="2200" b="1">
              <a:solidFill>
                <a:schemeClr val="lt1"/>
              </a:solidFill>
              <a:latin typeface="Finlandica"/>
              <a:ea typeface="Finlandica"/>
              <a:cs typeface="Finlandica"/>
              <a:sym typeface="Finlandica"/>
            </a:endParaRPr>
          </a:p>
        </p:txBody>
      </p:sp>
      <p:sp>
        <p:nvSpPr>
          <p:cNvPr id="323" name="Google Shape;323;p36"/>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4" name="Google Shape;324;p36"/>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25" name="Google Shape;325;p36"/>
          <p:cNvPicPr preferRelativeResize="0"/>
          <p:nvPr/>
        </p:nvPicPr>
        <p:blipFill>
          <a:blip r:embed="rId3">
            <a:alphaModFix/>
          </a:blip>
          <a:stretch>
            <a:fillRect/>
          </a:stretch>
        </p:blipFill>
        <p:spPr>
          <a:xfrm>
            <a:off x="822739" y="1155825"/>
            <a:ext cx="7498527" cy="2760699"/>
          </a:xfrm>
          <a:prstGeom prst="rect">
            <a:avLst/>
          </a:prstGeom>
          <a:noFill/>
          <a:ln>
            <a:noFill/>
          </a:ln>
        </p:spPr>
      </p:pic>
      <p:pic>
        <p:nvPicPr>
          <p:cNvPr id="326" name="Google Shape;326;p36" title="logo-ahs.png"/>
          <p:cNvPicPr preferRelativeResize="0"/>
          <p:nvPr/>
        </p:nvPicPr>
        <p:blipFill>
          <a:blip r:embed="rId4">
            <a:alphaModFix/>
          </a:blip>
          <a:stretch>
            <a:fillRect/>
          </a:stretch>
        </p:blipFill>
        <p:spPr>
          <a:xfrm>
            <a:off x="0" y="4666325"/>
            <a:ext cx="887775" cy="4771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pic>
        <p:nvPicPr>
          <p:cNvPr id="354" name="Google Shape;354;p40" title="Screenshot 2026-01-13 at 5.26.44 PM.png"/>
          <p:cNvPicPr preferRelativeResize="0"/>
          <p:nvPr/>
        </p:nvPicPr>
        <p:blipFill>
          <a:blip r:embed="rId3">
            <a:alphaModFix/>
          </a:blip>
          <a:stretch>
            <a:fillRect/>
          </a:stretch>
        </p:blipFill>
        <p:spPr>
          <a:xfrm>
            <a:off x="1151325" y="312553"/>
            <a:ext cx="5797581" cy="1523375"/>
          </a:xfrm>
          <a:prstGeom prst="rect">
            <a:avLst/>
          </a:prstGeom>
          <a:noFill/>
          <a:ln>
            <a:noFill/>
          </a:ln>
        </p:spPr>
      </p:pic>
      <p:sp>
        <p:nvSpPr>
          <p:cNvPr id="355" name="Google Shape;355;p40"/>
          <p:cNvSpPr txBox="1"/>
          <p:nvPr/>
        </p:nvSpPr>
        <p:spPr>
          <a:xfrm>
            <a:off x="1151325" y="0"/>
            <a:ext cx="60930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t>Table 2: Comparison between LLM and spaCy NER Models — Basic Notes</a:t>
            </a:r>
            <a:endParaRPr sz="1300"/>
          </a:p>
        </p:txBody>
      </p:sp>
      <p:pic>
        <p:nvPicPr>
          <p:cNvPr id="356" name="Google Shape;356;p40" title="Screenshot 2026-01-13 at 5.28.07 PM.png"/>
          <p:cNvPicPr preferRelativeResize="0"/>
          <p:nvPr/>
        </p:nvPicPr>
        <p:blipFill rotWithShape="1">
          <a:blip r:embed="rId4">
            <a:alphaModFix/>
          </a:blip>
          <a:srcRect l="1029"/>
          <a:stretch/>
        </p:blipFill>
        <p:spPr>
          <a:xfrm>
            <a:off x="1165630" y="1949777"/>
            <a:ext cx="5323525" cy="1413400"/>
          </a:xfrm>
          <a:prstGeom prst="rect">
            <a:avLst/>
          </a:prstGeom>
          <a:noFill/>
          <a:ln>
            <a:noFill/>
          </a:ln>
        </p:spPr>
      </p:pic>
      <p:sp>
        <p:nvSpPr>
          <p:cNvPr id="357" name="Google Shape;357;p40"/>
          <p:cNvSpPr txBox="1"/>
          <p:nvPr/>
        </p:nvSpPr>
        <p:spPr>
          <a:xfrm>
            <a:off x="1079960" y="1707624"/>
            <a:ext cx="6209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t>Table 3: Comparison between LLM and spaCy NER Models — SOAP Assessment</a:t>
            </a:r>
            <a:endParaRPr sz="1300"/>
          </a:p>
        </p:txBody>
      </p:sp>
      <p:pic>
        <p:nvPicPr>
          <p:cNvPr id="358" name="Google Shape;358;p40" title="Screenshot 2026-01-13 at 5.29.04 PM.png"/>
          <p:cNvPicPr preferRelativeResize="0"/>
          <p:nvPr/>
        </p:nvPicPr>
        <p:blipFill>
          <a:blip r:embed="rId5">
            <a:alphaModFix/>
          </a:blip>
          <a:stretch>
            <a:fillRect/>
          </a:stretch>
        </p:blipFill>
        <p:spPr>
          <a:xfrm>
            <a:off x="1130625" y="3615304"/>
            <a:ext cx="6019599" cy="1581725"/>
          </a:xfrm>
          <a:prstGeom prst="rect">
            <a:avLst/>
          </a:prstGeom>
          <a:noFill/>
          <a:ln>
            <a:noFill/>
          </a:ln>
        </p:spPr>
      </p:pic>
      <p:sp>
        <p:nvSpPr>
          <p:cNvPr id="359" name="Google Shape;359;p40"/>
          <p:cNvSpPr txBox="1"/>
          <p:nvPr/>
        </p:nvSpPr>
        <p:spPr>
          <a:xfrm>
            <a:off x="1058181" y="3342477"/>
            <a:ext cx="68097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t>Table 4: Comparison between LLM and spaCy NER Models — SOAP Assessment Notes</a:t>
            </a:r>
            <a:endParaRPr sz="13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41"/>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200" b="1">
                <a:solidFill>
                  <a:schemeClr val="lt1"/>
                </a:solidFill>
                <a:latin typeface="Finlandica"/>
                <a:ea typeface="Finlandica"/>
                <a:cs typeface="Finlandica"/>
                <a:sym typeface="Finlandica"/>
              </a:rPr>
              <a:t>Conclusion and future directions</a:t>
            </a:r>
            <a:endParaRPr sz="2200" b="1">
              <a:solidFill>
                <a:schemeClr val="lt1"/>
              </a:solidFill>
              <a:latin typeface="Finlandica"/>
              <a:ea typeface="Finlandica"/>
              <a:cs typeface="Finlandica"/>
              <a:sym typeface="Finlandica"/>
            </a:endParaRPr>
          </a:p>
        </p:txBody>
      </p:sp>
      <p:sp>
        <p:nvSpPr>
          <p:cNvPr id="365" name="Google Shape;365;p41"/>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6" name="Google Shape;366;p41"/>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67" name="Google Shape;367;p41" title="logo-ahs.png"/>
          <p:cNvPicPr preferRelativeResize="0"/>
          <p:nvPr/>
        </p:nvPicPr>
        <p:blipFill>
          <a:blip r:embed="rId3">
            <a:alphaModFix/>
          </a:blip>
          <a:stretch>
            <a:fillRect/>
          </a:stretch>
        </p:blipFill>
        <p:spPr>
          <a:xfrm>
            <a:off x="0" y="4666325"/>
            <a:ext cx="887775" cy="477175"/>
          </a:xfrm>
          <a:prstGeom prst="rect">
            <a:avLst/>
          </a:prstGeom>
          <a:noFill/>
          <a:ln>
            <a:noFill/>
          </a:ln>
        </p:spPr>
      </p:pic>
      <p:sp>
        <p:nvSpPr>
          <p:cNvPr id="368" name="Google Shape;368;p41"/>
          <p:cNvSpPr txBox="1"/>
          <p:nvPr/>
        </p:nvSpPr>
        <p:spPr>
          <a:xfrm>
            <a:off x="324450" y="724863"/>
            <a:ext cx="8495100" cy="36327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rgbClr val="012257"/>
              </a:buClr>
              <a:buSzPts val="1600"/>
              <a:buChar char="-"/>
            </a:pPr>
            <a:r>
              <a:rPr lang="en" sz="1600">
                <a:solidFill>
                  <a:srgbClr val="012257"/>
                </a:solidFill>
              </a:rPr>
              <a:t>Development of comprehensive medication knowledge base from active pharmaceutical ingredients to products to brand drug names interlinked with national standards to global community standards and databases through OMOP CDM</a:t>
            </a:r>
            <a:endParaRPr sz="1600">
              <a:solidFill>
                <a:srgbClr val="012257"/>
              </a:solidFill>
            </a:endParaRPr>
          </a:p>
          <a:p>
            <a:pPr marL="457200" lvl="0" indent="0" algn="l" rtl="0">
              <a:spcBef>
                <a:spcPts val="0"/>
              </a:spcBef>
              <a:spcAft>
                <a:spcPts val="0"/>
              </a:spcAft>
              <a:buNone/>
            </a:pPr>
            <a:endParaRPr sz="1600">
              <a:solidFill>
                <a:srgbClr val="012257"/>
              </a:solidFill>
            </a:endParaRPr>
          </a:p>
          <a:p>
            <a:pPr marL="457200" lvl="0" indent="-330200" algn="l" rtl="0">
              <a:spcBef>
                <a:spcPts val="0"/>
              </a:spcBef>
              <a:spcAft>
                <a:spcPts val="0"/>
              </a:spcAft>
              <a:buClr>
                <a:srgbClr val="012257"/>
              </a:buClr>
              <a:buSzPts val="1600"/>
              <a:buChar char="-"/>
            </a:pPr>
            <a:r>
              <a:rPr lang="en" sz="1600">
                <a:solidFill>
                  <a:srgbClr val="012257"/>
                </a:solidFill>
              </a:rPr>
              <a:t>Development of computational workflows for automatic extraction of clinical terms (medication, symptom/signs, and diseases) from unstructured EHR notes using open source small language models and rule-based NLP algorithms</a:t>
            </a:r>
            <a:endParaRPr sz="1600">
              <a:solidFill>
                <a:srgbClr val="012257"/>
              </a:solidFill>
            </a:endParaRPr>
          </a:p>
          <a:p>
            <a:pPr marL="457200" lvl="0" indent="0" algn="l" rtl="0">
              <a:spcBef>
                <a:spcPts val="0"/>
              </a:spcBef>
              <a:spcAft>
                <a:spcPts val="0"/>
              </a:spcAft>
              <a:buNone/>
            </a:pPr>
            <a:endParaRPr sz="1600">
              <a:solidFill>
                <a:srgbClr val="012257"/>
              </a:solidFill>
            </a:endParaRPr>
          </a:p>
          <a:p>
            <a:pPr marL="457200" lvl="0" indent="-330200" algn="l" rtl="0">
              <a:spcBef>
                <a:spcPts val="0"/>
              </a:spcBef>
              <a:spcAft>
                <a:spcPts val="0"/>
              </a:spcAft>
              <a:buClr>
                <a:srgbClr val="012257"/>
              </a:buClr>
              <a:buSzPts val="1600"/>
              <a:buChar char="-"/>
            </a:pPr>
            <a:r>
              <a:rPr lang="en" sz="1600">
                <a:solidFill>
                  <a:srgbClr val="012257"/>
                </a:solidFill>
              </a:rPr>
              <a:t>Benchmarking of language models highlights fine-tuning models outperformed prompt-based methods</a:t>
            </a:r>
            <a:endParaRPr sz="1600">
              <a:solidFill>
                <a:srgbClr val="012257"/>
              </a:solidFill>
            </a:endParaRPr>
          </a:p>
          <a:p>
            <a:pPr marL="457200" lvl="0" indent="0" algn="l" rtl="0">
              <a:spcBef>
                <a:spcPts val="0"/>
              </a:spcBef>
              <a:spcAft>
                <a:spcPts val="0"/>
              </a:spcAft>
              <a:buNone/>
            </a:pPr>
            <a:endParaRPr sz="1600">
              <a:solidFill>
                <a:srgbClr val="012257"/>
              </a:solidFill>
            </a:endParaRPr>
          </a:p>
          <a:p>
            <a:pPr marL="457200" lvl="0" indent="-330200" algn="l" rtl="0">
              <a:spcBef>
                <a:spcPts val="0"/>
              </a:spcBef>
              <a:spcAft>
                <a:spcPts val="0"/>
              </a:spcAft>
              <a:buClr>
                <a:srgbClr val="012257"/>
              </a:buClr>
              <a:buSzPts val="1600"/>
              <a:buChar char="-"/>
            </a:pPr>
            <a:r>
              <a:rPr lang="en" sz="1600">
                <a:solidFill>
                  <a:srgbClr val="012257"/>
                </a:solidFill>
              </a:rPr>
              <a:t>Integration of Human-In-The-Loop (HITL) Intelligent Systems would be promising solutions to accelerate the automatic standardization and harmonization of large scale unstructured clinical notes   </a:t>
            </a:r>
            <a:endParaRPr sz="1600">
              <a:solidFill>
                <a:srgbClr val="012257"/>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42"/>
          <p:cNvSpPr/>
          <p:nvPr/>
        </p:nvSpPr>
        <p:spPr>
          <a:xfrm>
            <a:off x="263100" y="0"/>
            <a:ext cx="8889600" cy="570000"/>
          </a:xfrm>
          <a:prstGeom prst="rect">
            <a:avLst/>
          </a:prstGeom>
          <a:solidFill>
            <a:srgbClr val="012257"/>
          </a:solidFill>
          <a:ln w="9525" cap="flat" cmpd="sng">
            <a:solidFill>
              <a:srgbClr val="0122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2200" b="1">
                <a:solidFill>
                  <a:schemeClr val="lt1"/>
                </a:solidFill>
                <a:latin typeface="Finlandica"/>
                <a:ea typeface="Finlandica"/>
                <a:cs typeface="Finlandica"/>
                <a:sym typeface="Finlandica"/>
              </a:rPr>
              <a:t>Contributors &amp; Acknowledgements </a:t>
            </a:r>
            <a:endParaRPr sz="2200" b="1">
              <a:solidFill>
                <a:schemeClr val="lt1"/>
              </a:solidFill>
              <a:latin typeface="Finlandica"/>
              <a:ea typeface="Finlandica"/>
              <a:cs typeface="Finlandica"/>
              <a:sym typeface="Finlandica"/>
            </a:endParaRPr>
          </a:p>
        </p:txBody>
      </p:sp>
      <p:sp>
        <p:nvSpPr>
          <p:cNvPr id="374" name="Google Shape;374;p42"/>
          <p:cNvSpPr/>
          <p:nvPr/>
        </p:nvSpPr>
        <p:spPr>
          <a:xfrm>
            <a:off x="2" y="0"/>
            <a:ext cx="263100" cy="570000"/>
          </a:xfrm>
          <a:prstGeom prst="rect">
            <a:avLst/>
          </a:prstGeom>
          <a:solidFill>
            <a:srgbClr val="D5E5FA"/>
          </a:solidFill>
          <a:ln w="9525" cap="flat" cmpd="sng">
            <a:solidFill>
              <a:srgbClr val="D5E5F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5" name="Google Shape;375;p42"/>
          <p:cNvSpPr/>
          <p:nvPr/>
        </p:nvSpPr>
        <p:spPr>
          <a:xfrm>
            <a:off x="7" y="0"/>
            <a:ext cx="148800" cy="570000"/>
          </a:xfrm>
          <a:prstGeom prst="rect">
            <a:avLst/>
          </a:prstGeom>
          <a:solidFill>
            <a:srgbClr val="5599FE"/>
          </a:solidFill>
          <a:ln w="9525" cap="flat" cmpd="sng">
            <a:solidFill>
              <a:srgbClr val="5599F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76" name="Google Shape;376;p42" title="logo-ahs.png"/>
          <p:cNvPicPr preferRelativeResize="0"/>
          <p:nvPr/>
        </p:nvPicPr>
        <p:blipFill>
          <a:blip r:embed="rId3">
            <a:alphaModFix/>
          </a:blip>
          <a:stretch>
            <a:fillRect/>
          </a:stretch>
        </p:blipFill>
        <p:spPr>
          <a:xfrm>
            <a:off x="110475" y="3552700"/>
            <a:ext cx="1639875" cy="881427"/>
          </a:xfrm>
          <a:prstGeom prst="rect">
            <a:avLst/>
          </a:prstGeom>
          <a:noFill/>
          <a:ln>
            <a:noFill/>
          </a:ln>
        </p:spPr>
      </p:pic>
      <p:pic>
        <p:nvPicPr>
          <p:cNvPr id="377" name="Google Shape;377;p42" title="Screenshot 2025-12-02 at 2.20.09 AM.png"/>
          <p:cNvPicPr preferRelativeResize="0"/>
          <p:nvPr/>
        </p:nvPicPr>
        <p:blipFill>
          <a:blip r:embed="rId4">
            <a:alphaModFix/>
          </a:blip>
          <a:stretch>
            <a:fillRect/>
          </a:stretch>
        </p:blipFill>
        <p:spPr>
          <a:xfrm>
            <a:off x="152400" y="722400"/>
            <a:ext cx="8839203" cy="769061"/>
          </a:xfrm>
          <a:prstGeom prst="rect">
            <a:avLst/>
          </a:prstGeom>
          <a:noFill/>
          <a:ln>
            <a:noFill/>
          </a:ln>
        </p:spPr>
      </p:pic>
      <p:pic>
        <p:nvPicPr>
          <p:cNvPr id="378" name="Google Shape;378;p42" title="Screenshot 2025-12-02 at 2.21.08 AM.png"/>
          <p:cNvPicPr preferRelativeResize="0"/>
          <p:nvPr/>
        </p:nvPicPr>
        <p:blipFill>
          <a:blip r:embed="rId5">
            <a:alphaModFix/>
          </a:blip>
          <a:stretch>
            <a:fillRect/>
          </a:stretch>
        </p:blipFill>
        <p:spPr>
          <a:xfrm>
            <a:off x="1819698" y="1571952"/>
            <a:ext cx="7171899" cy="2647676"/>
          </a:xfrm>
          <a:prstGeom prst="rect">
            <a:avLst/>
          </a:prstGeom>
          <a:noFill/>
          <a:ln>
            <a:noFill/>
          </a:ln>
        </p:spPr>
      </p:pic>
      <p:pic>
        <p:nvPicPr>
          <p:cNvPr id="379" name="Google Shape;379;p42" title="Screenshot 2025-12-02 at 2.29.36 AM.png"/>
          <p:cNvPicPr preferRelativeResize="0"/>
          <p:nvPr/>
        </p:nvPicPr>
        <p:blipFill rotWithShape="1">
          <a:blip r:embed="rId6">
            <a:alphaModFix/>
          </a:blip>
          <a:srcRect t="3154" r="2686" b="3796"/>
          <a:stretch/>
        </p:blipFill>
        <p:spPr>
          <a:xfrm>
            <a:off x="91630" y="1745500"/>
            <a:ext cx="1639850" cy="967850"/>
          </a:xfrm>
          <a:prstGeom prst="rect">
            <a:avLst/>
          </a:prstGeom>
          <a:noFill/>
          <a:ln>
            <a:noFill/>
          </a:ln>
        </p:spPr>
      </p:pic>
      <p:pic>
        <p:nvPicPr>
          <p:cNvPr id="380" name="Google Shape;380;p42" title="Screenshot 2025-12-02 at 2.32.16 AM.png"/>
          <p:cNvPicPr preferRelativeResize="0"/>
          <p:nvPr/>
        </p:nvPicPr>
        <p:blipFill>
          <a:blip r:embed="rId7">
            <a:alphaModFix/>
          </a:blip>
          <a:stretch>
            <a:fillRect/>
          </a:stretch>
        </p:blipFill>
        <p:spPr>
          <a:xfrm>
            <a:off x="91637" y="2853862"/>
            <a:ext cx="1639850" cy="558338"/>
          </a:xfrm>
          <a:prstGeom prst="rect">
            <a:avLst/>
          </a:prstGeom>
          <a:noFill/>
          <a:ln>
            <a:noFill/>
          </a:ln>
        </p:spPr>
      </p:pic>
      <p:pic>
        <p:nvPicPr>
          <p:cNvPr id="381" name="Google Shape;381;p42"/>
          <p:cNvPicPr preferRelativeResize="0"/>
          <p:nvPr/>
        </p:nvPicPr>
        <p:blipFill rotWithShape="1">
          <a:blip r:embed="rId8">
            <a:alphaModFix/>
          </a:blip>
          <a:srcRect l="3423" t="31402" r="8796" b="36198"/>
          <a:stretch/>
        </p:blipFill>
        <p:spPr>
          <a:xfrm>
            <a:off x="4289085" y="4241275"/>
            <a:ext cx="2083518" cy="7690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992</Words>
  <Application>Microsoft Macintosh PowerPoint</Application>
  <PresentationFormat>On-screen Show (16:9)</PresentationFormat>
  <Paragraphs>110</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Courier New</vt:lpstr>
      <vt:lpstr>Finlandica</vt:lpstr>
      <vt:lpstr>Georgia</vt:lpstr>
      <vt:lpstr>Simple Light</vt:lpstr>
      <vt:lpstr>Leveraging LLMs and a Common Data Model to Unlock Real World Evidence from Unstructured Electronic Health Record Data in India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Siddhant Poudyal</cp:lastModifiedBy>
  <cp:revision>2</cp:revision>
  <dcterms:modified xsi:type="dcterms:W3CDTF">2026-09-10T12:12:57Z</dcterms:modified>
</cp:coreProperties>
</file>